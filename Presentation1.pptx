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CE48B8-8FCF-47DE-93FA-BA05846D30D3}">
          <p14:sldIdLst>
            <p14:sldId id="257"/>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0F190-21AE-EA45-8383-2316350BE3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1698FD6-F740-58FB-344E-3CBD90E21E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8F8F63-D151-1447-C76B-F65CAFCCD674}"/>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5" name="Footer Placeholder 4">
            <a:extLst>
              <a:ext uri="{FF2B5EF4-FFF2-40B4-BE49-F238E27FC236}">
                <a16:creationId xmlns:a16="http://schemas.microsoft.com/office/drawing/2014/main" id="{0F6D6908-DBCA-ECC6-DD78-155F5A73C8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2E830D-389C-D574-92F8-274634DED90D}"/>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2283542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6171D-B2A9-71AF-FAED-3EE51AE6C9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C75BD5-7C2E-B96A-A108-67587F60AD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E7D86C-6D8C-5AAC-0B2C-F529E8157D2E}"/>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5" name="Footer Placeholder 4">
            <a:extLst>
              <a:ext uri="{FF2B5EF4-FFF2-40B4-BE49-F238E27FC236}">
                <a16:creationId xmlns:a16="http://schemas.microsoft.com/office/drawing/2014/main" id="{F2837857-93EE-ECB0-B1D4-F92C8ABF9C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4BCD0F-D0CE-6BC9-22BB-E93450D52123}"/>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360908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56730-165C-2AAE-EC09-5D71B07700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0EB21C-388A-1CA3-8A21-20A9A6CBE2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2DC872-1A29-CF0A-4320-3620B1BA8E46}"/>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5" name="Footer Placeholder 4">
            <a:extLst>
              <a:ext uri="{FF2B5EF4-FFF2-40B4-BE49-F238E27FC236}">
                <a16:creationId xmlns:a16="http://schemas.microsoft.com/office/drawing/2014/main" id="{62BC9071-9FCE-55E7-B4EE-A1B2DFFD4A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39E635-8DEF-87E4-3B86-D895FAACF9E3}"/>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1212181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F9B12-EFEB-DD4A-387D-433FF49238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9502FC-1E33-F83A-A379-6B4A1296CB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A8DE93-6F17-BF98-D7FA-EACC84227B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A2F230-49EF-5ADB-6DCB-173EFAD5AA49}"/>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6" name="Footer Placeholder 5">
            <a:extLst>
              <a:ext uri="{FF2B5EF4-FFF2-40B4-BE49-F238E27FC236}">
                <a16:creationId xmlns:a16="http://schemas.microsoft.com/office/drawing/2014/main" id="{A648D4EA-08B3-492C-4245-145A547B26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936A31-E8B6-F76E-5FE5-840271D2AAF9}"/>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1126786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2B623-91BF-1743-9FEC-8376003BCD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31CC7B-9772-2137-35DF-431B5BF5D8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5E0DA6-4180-FB2D-9B73-85A4722CEE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E98FAE-6205-629D-E203-36CF8B5AF9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5EFCFC-E1B4-75CB-9588-F51DA4A3E2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BE534A-FC7A-30A1-3F59-4999F31FC9E6}"/>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8" name="Footer Placeholder 7">
            <a:extLst>
              <a:ext uri="{FF2B5EF4-FFF2-40B4-BE49-F238E27FC236}">
                <a16:creationId xmlns:a16="http://schemas.microsoft.com/office/drawing/2014/main" id="{D9C9FFCB-EF9F-49E1-F3C4-777CF0D3ED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C92634-A836-1A24-6AD1-21D8014B8AA1}"/>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4083180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0A1B0-2678-063E-75EC-BBC4AC514C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3C1F7E-EAF8-0CA9-642B-D74934748C23}"/>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4" name="Footer Placeholder 3">
            <a:extLst>
              <a:ext uri="{FF2B5EF4-FFF2-40B4-BE49-F238E27FC236}">
                <a16:creationId xmlns:a16="http://schemas.microsoft.com/office/drawing/2014/main" id="{BA0C1C6C-0B8E-C404-CAE8-F6717B3C57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E329907-5A68-1AE1-F0CC-64442570B73B}"/>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2299804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6391B5-F6E8-3D70-C29C-9E64B620BE70}"/>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3" name="Footer Placeholder 2">
            <a:extLst>
              <a:ext uri="{FF2B5EF4-FFF2-40B4-BE49-F238E27FC236}">
                <a16:creationId xmlns:a16="http://schemas.microsoft.com/office/drawing/2014/main" id="{CF07A625-38FD-BD0F-734C-22BB90B090F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B63112-911B-1C6A-8FD7-B27DA422E470}"/>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291305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A2B22-C872-4DB3-0F30-169E32A64D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47DF5F-87F9-A2F3-13EC-B6EF9053ED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F64DF4-8B90-7CAC-8F56-6BA7306E1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0CBB6-1B6E-03ED-64D6-6581BF85135C}"/>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6" name="Footer Placeholder 5">
            <a:extLst>
              <a:ext uri="{FF2B5EF4-FFF2-40B4-BE49-F238E27FC236}">
                <a16:creationId xmlns:a16="http://schemas.microsoft.com/office/drawing/2014/main" id="{262C922F-4A66-5A45-A24D-029AC9CCFE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CEDC84-5354-593C-B580-D08A3421393D}"/>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2333384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1FEEB-5CF2-6D96-7594-572212BDEF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11FE2B3-B3C2-33A1-3E7A-963A700EE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FC9BB6-D65F-5C31-185D-0D3FE32388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B4916A-0503-7A03-608B-CE92E7F02DEF}"/>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6" name="Footer Placeholder 5">
            <a:extLst>
              <a:ext uri="{FF2B5EF4-FFF2-40B4-BE49-F238E27FC236}">
                <a16:creationId xmlns:a16="http://schemas.microsoft.com/office/drawing/2014/main" id="{D051A29A-62CE-400C-A3B6-8B4455ACF6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CB75C8-1DE0-D1DE-AA68-22F205948E45}"/>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98011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4529E-3881-FC00-40A2-B3A2EBFB0F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7548C9-07CF-50DC-D06C-60C7403FA5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E217B4-4155-E936-3902-CAC4954A8C10}"/>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5" name="Footer Placeholder 4">
            <a:extLst>
              <a:ext uri="{FF2B5EF4-FFF2-40B4-BE49-F238E27FC236}">
                <a16:creationId xmlns:a16="http://schemas.microsoft.com/office/drawing/2014/main" id="{817FDBB6-6C7A-6D6C-8F4F-B2E93CDB8B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439AEB-78A2-4562-882F-21176B5D1D42}"/>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4142853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D18095-C6FA-252B-A38A-A8F1B72C84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2702EB-8CA6-8486-0B1C-4576A18041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137898-EA1A-A9DD-599C-67640C98E6B6}"/>
              </a:ext>
            </a:extLst>
          </p:cNvPr>
          <p:cNvSpPr>
            <a:spLocks noGrp="1"/>
          </p:cNvSpPr>
          <p:nvPr>
            <p:ph type="dt" sz="half" idx="10"/>
          </p:nvPr>
        </p:nvSpPr>
        <p:spPr/>
        <p:txBody>
          <a:bodyPr/>
          <a:lstStyle/>
          <a:p>
            <a:fld id="{7DF840E5-810B-45E2-B480-943A1573C422}" type="datetimeFigureOut">
              <a:rPr lang="en-IN" smtClean="0"/>
              <a:t>01-03-2026</a:t>
            </a:fld>
            <a:endParaRPr lang="en-IN"/>
          </a:p>
        </p:txBody>
      </p:sp>
      <p:sp>
        <p:nvSpPr>
          <p:cNvPr id="5" name="Footer Placeholder 4">
            <a:extLst>
              <a:ext uri="{FF2B5EF4-FFF2-40B4-BE49-F238E27FC236}">
                <a16:creationId xmlns:a16="http://schemas.microsoft.com/office/drawing/2014/main" id="{879D7850-B205-D7A2-72EB-BF06E08633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213B53-7214-D14C-58C8-19D0660FDE01}"/>
              </a:ext>
            </a:extLst>
          </p:cNvPr>
          <p:cNvSpPr>
            <a:spLocks noGrp="1"/>
          </p:cNvSpPr>
          <p:nvPr>
            <p:ph type="sldNum" sz="quarter" idx="12"/>
          </p:nvPr>
        </p:nvSpPr>
        <p:spPr/>
        <p:txBody>
          <a:bodyPr/>
          <a:lstStyle/>
          <a:p>
            <a:fld id="{52FEF7E0-893A-4FA2-BB1A-547FE9FF55B2}" type="slidenum">
              <a:rPr lang="en-IN" smtClean="0"/>
              <a:t>‹#›</a:t>
            </a:fld>
            <a:endParaRPr lang="en-IN"/>
          </a:p>
        </p:txBody>
      </p:sp>
    </p:spTree>
    <p:extLst>
      <p:ext uri="{BB962C8B-B14F-4D97-AF65-F5344CB8AC3E}">
        <p14:creationId xmlns:p14="http://schemas.microsoft.com/office/powerpoint/2010/main" val="2655701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C7583F-6DD7-514F-B9FB-266F033494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4F557F-8568-1315-F21D-CAF95FBFED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FDAFC8-A144-F4D7-F561-1C94FB1A12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F840E5-810B-45E2-B480-943A1573C422}" type="datetimeFigureOut">
              <a:rPr lang="en-IN" smtClean="0"/>
              <a:t>01-03-2026</a:t>
            </a:fld>
            <a:endParaRPr lang="en-IN"/>
          </a:p>
        </p:txBody>
      </p:sp>
      <p:sp>
        <p:nvSpPr>
          <p:cNvPr id="5" name="Footer Placeholder 4">
            <a:extLst>
              <a:ext uri="{FF2B5EF4-FFF2-40B4-BE49-F238E27FC236}">
                <a16:creationId xmlns:a16="http://schemas.microsoft.com/office/drawing/2014/main" id="{44C120F3-A7D7-085D-1B27-48C1908A98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7AF06B7-521E-33BF-8F87-1FC7DC3884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FEF7E0-893A-4FA2-BB1A-547FE9FF55B2}" type="slidenum">
              <a:rPr lang="en-IN" smtClean="0"/>
              <a:t>‹#›</a:t>
            </a:fld>
            <a:endParaRPr lang="en-IN"/>
          </a:p>
        </p:txBody>
      </p:sp>
    </p:spTree>
    <p:extLst>
      <p:ext uri="{BB962C8B-B14F-4D97-AF65-F5344CB8AC3E}">
        <p14:creationId xmlns:p14="http://schemas.microsoft.com/office/powerpoint/2010/main" val="630860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EBB4B44-1805-AAAA-CA80-97D79D481446}"/>
              </a:ext>
            </a:extLst>
          </p:cNvPr>
          <p:cNvSpPr txBox="1"/>
          <p:nvPr/>
        </p:nvSpPr>
        <p:spPr>
          <a:xfrm>
            <a:off x="2939143" y="732749"/>
            <a:ext cx="6096000" cy="64633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COMPARATIVE STUDY OF PROJECT MANAGEMENT TOOLS JIRA vs Trello vs MS Project</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2684128-1A4B-EDC6-1324-F86B4A5014E1}"/>
              </a:ext>
            </a:extLst>
          </p:cNvPr>
          <p:cNvSpPr txBox="1"/>
          <p:nvPr/>
        </p:nvSpPr>
        <p:spPr>
          <a:xfrm>
            <a:off x="3048000" y="2412164"/>
            <a:ext cx="6096000" cy="1200329"/>
          </a:xfrm>
          <a:prstGeom prst="rect">
            <a:avLst/>
          </a:prstGeom>
          <a:noFill/>
        </p:spPr>
        <p:txBody>
          <a:bodyPr wrap="square">
            <a:spAutoFit/>
          </a:bodyPr>
          <a:lstStyle/>
          <a:p>
            <a:pPr algn="ctr"/>
            <a:r>
              <a:rPr lang="en-IN" dirty="0"/>
              <a:t>SIDDHARTH EKNATH MHETAR</a:t>
            </a:r>
          </a:p>
          <a:p>
            <a:pPr algn="ctr"/>
            <a:r>
              <a:rPr lang="en-IN" dirty="0"/>
              <a:t>HPGD/JL24/2450</a:t>
            </a:r>
          </a:p>
          <a:p>
            <a:pPr algn="ctr"/>
            <a:endParaRPr lang="en-IN" dirty="0"/>
          </a:p>
          <a:p>
            <a:pPr algn="ctr"/>
            <a:r>
              <a:rPr lang="en-IN" dirty="0"/>
              <a:t>SPECIALIZATION: IT Project Management</a:t>
            </a:r>
          </a:p>
        </p:txBody>
      </p:sp>
      <p:sp>
        <p:nvSpPr>
          <p:cNvPr id="15" name="TextBox 14">
            <a:extLst>
              <a:ext uri="{FF2B5EF4-FFF2-40B4-BE49-F238E27FC236}">
                <a16:creationId xmlns:a16="http://schemas.microsoft.com/office/drawing/2014/main" id="{DDB3EA6F-ADB6-85E5-F002-51E1F0975C8B}"/>
              </a:ext>
            </a:extLst>
          </p:cNvPr>
          <p:cNvSpPr txBox="1"/>
          <p:nvPr/>
        </p:nvSpPr>
        <p:spPr>
          <a:xfrm>
            <a:off x="3048000" y="4488321"/>
            <a:ext cx="6096000" cy="646331"/>
          </a:xfrm>
          <a:prstGeom prst="rect">
            <a:avLst/>
          </a:prstGeom>
          <a:noFill/>
        </p:spPr>
        <p:txBody>
          <a:bodyPr wrap="square">
            <a:spAutoFit/>
          </a:bodyPr>
          <a:lstStyle/>
          <a:p>
            <a:pPr algn="ctr"/>
            <a:r>
              <a:rPr lang="en-US" dirty="0"/>
              <a:t>WELINGKAR INSTITUTE OF MANAGEMENT DEVELOPMENT &amp; RESEARCH</a:t>
            </a:r>
            <a:endParaRPr lang="en-IN" dirty="0"/>
          </a:p>
        </p:txBody>
      </p:sp>
      <p:sp>
        <p:nvSpPr>
          <p:cNvPr id="17" name="TextBox 16">
            <a:extLst>
              <a:ext uri="{FF2B5EF4-FFF2-40B4-BE49-F238E27FC236}">
                <a16:creationId xmlns:a16="http://schemas.microsoft.com/office/drawing/2014/main" id="{8AC528FB-5994-0B34-2B01-55D879EFF426}"/>
              </a:ext>
            </a:extLst>
          </p:cNvPr>
          <p:cNvSpPr txBox="1"/>
          <p:nvPr/>
        </p:nvSpPr>
        <p:spPr>
          <a:xfrm>
            <a:off x="2808514" y="5825814"/>
            <a:ext cx="6096000" cy="369332"/>
          </a:xfrm>
          <a:prstGeom prst="rect">
            <a:avLst/>
          </a:prstGeom>
          <a:noFill/>
        </p:spPr>
        <p:txBody>
          <a:bodyPr wrap="square">
            <a:spAutoFit/>
          </a:bodyPr>
          <a:lstStyle/>
          <a:p>
            <a:pPr algn="ctr"/>
            <a:r>
              <a:rPr lang="en-US" dirty="0"/>
              <a:t>YEAR OF SUBMISSION: MARCH 2025</a:t>
            </a:r>
            <a:endParaRPr lang="en-IN" dirty="0"/>
          </a:p>
        </p:txBody>
      </p:sp>
    </p:spTree>
    <p:extLst>
      <p:ext uri="{BB962C8B-B14F-4D97-AF65-F5344CB8AC3E}">
        <p14:creationId xmlns:p14="http://schemas.microsoft.com/office/powerpoint/2010/main" val="950342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188AE-B572-31CE-6849-6A504ADD8862}"/>
              </a:ext>
            </a:extLst>
          </p:cNvPr>
          <p:cNvSpPr>
            <a:spLocks noGrp="1"/>
          </p:cNvSpPr>
          <p:nvPr>
            <p:ph type="title"/>
          </p:nvPr>
        </p:nvSpPr>
        <p:spPr/>
        <p:txBody>
          <a:bodyPr/>
          <a:lstStyle/>
          <a:p>
            <a:pPr algn="ctr"/>
            <a:r>
              <a:rPr lang="en-IN" dirty="0"/>
              <a:t>PRESENTATION OUTLINE</a:t>
            </a:r>
          </a:p>
        </p:txBody>
      </p:sp>
      <p:sp>
        <p:nvSpPr>
          <p:cNvPr id="3" name="Text Placeholder 2">
            <a:extLst>
              <a:ext uri="{FF2B5EF4-FFF2-40B4-BE49-F238E27FC236}">
                <a16:creationId xmlns:a16="http://schemas.microsoft.com/office/drawing/2014/main" id="{AA8189E4-F4A6-81C8-FF98-A0C895FEBF48}"/>
              </a:ext>
            </a:extLst>
          </p:cNvPr>
          <p:cNvSpPr>
            <a:spLocks noGrp="1"/>
          </p:cNvSpPr>
          <p:nvPr>
            <p:ph type="body" idx="1"/>
          </p:nvPr>
        </p:nvSpPr>
        <p:spPr/>
        <p:txBody>
          <a:bodyPr/>
          <a:lstStyle/>
          <a:p>
            <a:r>
              <a:rPr lang="en-IN" dirty="0"/>
              <a:t>Part 1: Foundation</a:t>
            </a:r>
          </a:p>
        </p:txBody>
      </p:sp>
      <p:sp>
        <p:nvSpPr>
          <p:cNvPr id="4" name="Content Placeholder 3">
            <a:extLst>
              <a:ext uri="{FF2B5EF4-FFF2-40B4-BE49-F238E27FC236}">
                <a16:creationId xmlns:a16="http://schemas.microsoft.com/office/drawing/2014/main" id="{1B233FFF-BC4E-66BA-E985-5FCB76C38266}"/>
              </a:ext>
            </a:extLst>
          </p:cNvPr>
          <p:cNvSpPr>
            <a:spLocks noGrp="1"/>
          </p:cNvSpPr>
          <p:nvPr>
            <p:ph sz="half" idx="2"/>
          </p:nvPr>
        </p:nvSpPr>
        <p:spPr/>
        <p:txBody>
          <a:bodyPr/>
          <a:lstStyle/>
          <a:p>
            <a:r>
              <a:rPr lang="en-IN" dirty="0"/>
              <a:t>Introduction &amp; Background</a:t>
            </a:r>
          </a:p>
          <a:p>
            <a:r>
              <a:rPr lang="en-IN" dirty="0"/>
              <a:t>Literature Review</a:t>
            </a:r>
          </a:p>
          <a:p>
            <a:r>
              <a:rPr lang="en-IN" dirty="0"/>
              <a:t>Research Methodology</a:t>
            </a:r>
          </a:p>
          <a:p>
            <a:r>
              <a:rPr lang="en-IN" dirty="0"/>
              <a:t>Company Profile</a:t>
            </a:r>
          </a:p>
        </p:txBody>
      </p:sp>
      <p:sp>
        <p:nvSpPr>
          <p:cNvPr id="5" name="Text Placeholder 4">
            <a:extLst>
              <a:ext uri="{FF2B5EF4-FFF2-40B4-BE49-F238E27FC236}">
                <a16:creationId xmlns:a16="http://schemas.microsoft.com/office/drawing/2014/main" id="{BBA265B1-744A-8CF1-6C83-EDDBF88F6787}"/>
              </a:ext>
            </a:extLst>
          </p:cNvPr>
          <p:cNvSpPr>
            <a:spLocks noGrp="1"/>
          </p:cNvSpPr>
          <p:nvPr>
            <p:ph type="body" sz="quarter" idx="3"/>
          </p:nvPr>
        </p:nvSpPr>
        <p:spPr/>
        <p:txBody>
          <a:bodyPr/>
          <a:lstStyle/>
          <a:p>
            <a:r>
              <a:rPr lang="en-IN" dirty="0"/>
              <a:t>Part 2: Analysis</a:t>
            </a:r>
          </a:p>
        </p:txBody>
      </p:sp>
      <p:sp>
        <p:nvSpPr>
          <p:cNvPr id="6" name="Content Placeholder 5">
            <a:extLst>
              <a:ext uri="{FF2B5EF4-FFF2-40B4-BE49-F238E27FC236}">
                <a16:creationId xmlns:a16="http://schemas.microsoft.com/office/drawing/2014/main" id="{7D28C626-D6CE-E193-603A-DF1FFD022840}"/>
              </a:ext>
            </a:extLst>
          </p:cNvPr>
          <p:cNvSpPr>
            <a:spLocks noGrp="1"/>
          </p:cNvSpPr>
          <p:nvPr>
            <p:ph sz="quarter" idx="4"/>
          </p:nvPr>
        </p:nvSpPr>
        <p:spPr/>
        <p:txBody>
          <a:bodyPr/>
          <a:lstStyle/>
          <a:p>
            <a:r>
              <a:rPr lang="en-IN" dirty="0"/>
              <a:t>Detailed Tool Analysis</a:t>
            </a:r>
          </a:p>
          <a:p>
            <a:r>
              <a:rPr lang="en-IN" dirty="0"/>
              <a:t>Comparative Analysis</a:t>
            </a:r>
          </a:p>
          <a:p>
            <a:r>
              <a:rPr lang="en-IN" dirty="0"/>
              <a:t>Data Interpretation</a:t>
            </a:r>
          </a:p>
          <a:p>
            <a:r>
              <a:rPr lang="en-IN" dirty="0"/>
              <a:t>Findings &amp; Recommendations</a:t>
            </a:r>
          </a:p>
        </p:txBody>
      </p:sp>
    </p:spTree>
    <p:extLst>
      <p:ext uri="{BB962C8B-B14F-4D97-AF65-F5344CB8AC3E}">
        <p14:creationId xmlns:p14="http://schemas.microsoft.com/office/powerpoint/2010/main" val="2663429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A2CD-78B9-08B1-94CE-F82762527620}"/>
              </a:ext>
            </a:extLst>
          </p:cNvPr>
          <p:cNvSpPr>
            <a:spLocks noGrp="1"/>
          </p:cNvSpPr>
          <p:nvPr>
            <p:ph type="title"/>
          </p:nvPr>
        </p:nvSpPr>
        <p:spPr>
          <a:xfrm>
            <a:off x="838200" y="141515"/>
            <a:ext cx="10515600" cy="947056"/>
          </a:xfrm>
        </p:spPr>
        <p:txBody>
          <a:bodyPr/>
          <a:lstStyle/>
          <a:p>
            <a:pPr algn="ctr"/>
            <a:r>
              <a:rPr lang="en-IN" dirty="0"/>
              <a:t>INTRODUCTION</a:t>
            </a:r>
          </a:p>
        </p:txBody>
      </p:sp>
      <p:sp>
        <p:nvSpPr>
          <p:cNvPr id="3" name="TextBox 2">
            <a:extLst>
              <a:ext uri="{FF2B5EF4-FFF2-40B4-BE49-F238E27FC236}">
                <a16:creationId xmlns:a16="http://schemas.microsoft.com/office/drawing/2014/main" id="{DB38CDBD-CD46-01DA-C27F-C66B001D2BC0}"/>
              </a:ext>
            </a:extLst>
          </p:cNvPr>
          <p:cNvSpPr txBox="1"/>
          <p:nvPr/>
        </p:nvSpPr>
        <p:spPr>
          <a:xfrm>
            <a:off x="642257" y="1295400"/>
            <a:ext cx="11081657" cy="4247317"/>
          </a:xfrm>
          <a:prstGeom prst="rect">
            <a:avLst/>
          </a:prstGeom>
          <a:noFill/>
        </p:spPr>
        <p:txBody>
          <a:bodyPr wrap="square" rtlCol="0">
            <a:spAutoFit/>
          </a:bodyPr>
          <a:lstStyle/>
          <a:p>
            <a:r>
              <a:rPr lang="en-US" b="1" dirty="0"/>
              <a:t>PROJECT BACKGROUND</a:t>
            </a:r>
            <a:endParaRPr lang="en-US" dirty="0"/>
          </a:p>
          <a:p>
            <a:r>
              <a:rPr lang="en-US" dirty="0"/>
              <a:t>In today's fast-paced business environment, effective project management is crucial for organizational success. The right PM tool can significantly impact team productivity and project outcomes.</a:t>
            </a:r>
          </a:p>
          <a:p>
            <a:endParaRPr lang="en-US" dirty="0"/>
          </a:p>
          <a:p>
            <a:r>
              <a:rPr lang="en-US" b="1" dirty="0"/>
              <a:t>KEY CHALLENGE</a:t>
            </a:r>
            <a:r>
              <a:rPr lang="en-US" dirty="0"/>
              <a:t> </a:t>
            </a:r>
          </a:p>
          <a:p>
            <a:r>
              <a:rPr lang="en-US" dirty="0"/>
              <a:t>Organizations struggle to select the most appropriate project management tool that aligns with their specific needs, team size, and project complexity.</a:t>
            </a:r>
          </a:p>
          <a:p>
            <a:endParaRPr lang="en-US" dirty="0"/>
          </a:p>
          <a:p>
            <a:r>
              <a:rPr lang="en-IN" b="1" dirty="0"/>
              <a:t>STUDY FOCUS</a:t>
            </a:r>
          </a:p>
          <a:p>
            <a:pPr marL="285750" indent="-285750">
              <a:buFont typeface="Arial" panose="020B0604020202020204" pitchFamily="34" charset="0"/>
              <a:buChar char="•"/>
            </a:pPr>
            <a:r>
              <a:rPr lang="en-US" dirty="0"/>
              <a:t>Comprehensive evaluation of three leading PM tools</a:t>
            </a:r>
          </a:p>
          <a:p>
            <a:pPr marL="285750" indent="-285750">
              <a:buFont typeface="Arial" panose="020B0604020202020204" pitchFamily="34" charset="0"/>
              <a:buChar char="•"/>
            </a:pPr>
            <a:r>
              <a:rPr lang="en-IN" dirty="0"/>
              <a:t>Feature-by-feature comparison</a:t>
            </a:r>
          </a:p>
          <a:p>
            <a:pPr marL="285750" indent="-285750">
              <a:buFont typeface="Arial" panose="020B0604020202020204" pitchFamily="34" charset="0"/>
              <a:buChar char="•"/>
            </a:pPr>
            <a:r>
              <a:rPr lang="en-IN" dirty="0"/>
              <a:t>Real-world applicability assessment</a:t>
            </a:r>
          </a:p>
          <a:p>
            <a:pPr marL="285750" indent="-285750">
              <a:buFont typeface="Arial" panose="020B0604020202020204" pitchFamily="34" charset="0"/>
              <a:buChar char="•"/>
            </a:pPr>
            <a:r>
              <a:rPr lang="en-IN" dirty="0"/>
              <a:t>Evidence-based recommendations</a:t>
            </a:r>
          </a:p>
          <a:p>
            <a:endParaRPr lang="en-IN"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126022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AD55F-9279-1915-530C-4D8FB4FB77DA}"/>
              </a:ext>
            </a:extLst>
          </p:cNvPr>
          <p:cNvSpPr>
            <a:spLocks noGrp="1"/>
          </p:cNvSpPr>
          <p:nvPr>
            <p:ph type="title"/>
          </p:nvPr>
        </p:nvSpPr>
        <p:spPr>
          <a:xfrm>
            <a:off x="838200" y="92982"/>
            <a:ext cx="10515600" cy="1325563"/>
          </a:xfrm>
        </p:spPr>
        <p:txBody>
          <a:bodyPr/>
          <a:lstStyle/>
          <a:p>
            <a:pPr algn="ctr"/>
            <a:r>
              <a:rPr lang="en-US" dirty="0"/>
              <a:t>EVOLUTION OF PROJECT MANAGEMENT TOOLS</a:t>
            </a:r>
            <a:endParaRPr lang="en-IN" dirty="0"/>
          </a:p>
        </p:txBody>
      </p:sp>
      <p:sp>
        <p:nvSpPr>
          <p:cNvPr id="5" name="Rectangle: Rounded Corners 4">
            <a:extLst>
              <a:ext uri="{FF2B5EF4-FFF2-40B4-BE49-F238E27FC236}">
                <a16:creationId xmlns:a16="http://schemas.microsoft.com/office/drawing/2014/main" id="{6359D882-9E2A-8BCF-690E-1AD15345FA81}"/>
              </a:ext>
            </a:extLst>
          </p:cNvPr>
          <p:cNvSpPr/>
          <p:nvPr/>
        </p:nvSpPr>
        <p:spPr>
          <a:xfrm>
            <a:off x="1556657" y="1524000"/>
            <a:ext cx="3243943" cy="190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bg1"/>
                </a:solidFill>
              </a:rPr>
              <a:t>1990s - Desktop Software Era</a:t>
            </a:r>
          </a:p>
          <a:p>
            <a:pPr marL="285750" indent="-285750">
              <a:buFont typeface="Arial" panose="020B0604020202020204" pitchFamily="34" charset="0"/>
              <a:buChar char="•"/>
            </a:pPr>
            <a:r>
              <a:rPr lang="en-IN" dirty="0">
                <a:solidFill>
                  <a:schemeClr val="bg1"/>
                </a:solidFill>
              </a:rPr>
              <a:t>Standalone desktop applications</a:t>
            </a:r>
          </a:p>
          <a:p>
            <a:pPr marL="285750" indent="-285750">
              <a:buFont typeface="Arial" panose="020B0604020202020204" pitchFamily="34" charset="0"/>
              <a:buChar char="•"/>
            </a:pPr>
            <a:r>
              <a:rPr lang="en-IN" dirty="0">
                <a:solidFill>
                  <a:schemeClr val="bg1"/>
                </a:solidFill>
              </a:rPr>
              <a:t>Limited collaboration features</a:t>
            </a:r>
          </a:p>
          <a:p>
            <a:pPr marL="285750" indent="-285750">
              <a:buFont typeface="Arial" panose="020B0604020202020204" pitchFamily="34" charset="0"/>
              <a:buChar char="•"/>
            </a:pPr>
            <a:r>
              <a:rPr lang="en-IN" dirty="0">
                <a:solidFill>
                  <a:schemeClr val="bg1"/>
                </a:solidFill>
              </a:rPr>
              <a:t>MS Project dominance</a:t>
            </a:r>
          </a:p>
          <a:p>
            <a:pPr algn="ctr"/>
            <a:endParaRPr lang="en-IN" dirty="0">
              <a:solidFill>
                <a:schemeClr val="bg1"/>
              </a:solidFill>
            </a:endParaRPr>
          </a:p>
        </p:txBody>
      </p:sp>
      <p:sp>
        <p:nvSpPr>
          <p:cNvPr id="6" name="Rectangle: Rounded Corners 5">
            <a:extLst>
              <a:ext uri="{FF2B5EF4-FFF2-40B4-BE49-F238E27FC236}">
                <a16:creationId xmlns:a16="http://schemas.microsoft.com/office/drawing/2014/main" id="{3EA1C6EB-B02F-718E-9A89-50D2FC2329A7}"/>
              </a:ext>
            </a:extLst>
          </p:cNvPr>
          <p:cNvSpPr/>
          <p:nvPr/>
        </p:nvSpPr>
        <p:spPr>
          <a:xfrm>
            <a:off x="7500257" y="1458686"/>
            <a:ext cx="3243943" cy="190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bg1"/>
                </a:solidFill>
              </a:rPr>
              <a:t>2000s - Web-Based Solutions</a:t>
            </a:r>
          </a:p>
          <a:p>
            <a:pPr marL="285750" indent="-285750">
              <a:buFont typeface="Arial" panose="020B0604020202020204" pitchFamily="34" charset="0"/>
              <a:buChar char="•"/>
            </a:pPr>
            <a:r>
              <a:rPr lang="en-IN" dirty="0">
                <a:solidFill>
                  <a:schemeClr val="bg1"/>
                </a:solidFill>
              </a:rPr>
              <a:t>Browser-based access</a:t>
            </a:r>
          </a:p>
          <a:p>
            <a:pPr marL="285750" indent="-285750">
              <a:buFont typeface="Arial" panose="020B0604020202020204" pitchFamily="34" charset="0"/>
              <a:buChar char="•"/>
            </a:pPr>
            <a:r>
              <a:rPr lang="en-IN" dirty="0">
                <a:solidFill>
                  <a:schemeClr val="bg1"/>
                </a:solidFill>
              </a:rPr>
              <a:t>Early cloud adoption</a:t>
            </a:r>
          </a:p>
          <a:p>
            <a:pPr marL="285750" indent="-285750">
              <a:buFont typeface="Arial" panose="020B0604020202020204" pitchFamily="34" charset="0"/>
              <a:buChar char="•"/>
            </a:pPr>
            <a:r>
              <a:rPr lang="en-IN" dirty="0">
                <a:solidFill>
                  <a:schemeClr val="bg1"/>
                </a:solidFill>
              </a:rPr>
              <a:t>Beginning of SaaS model</a:t>
            </a:r>
          </a:p>
        </p:txBody>
      </p:sp>
      <p:sp>
        <p:nvSpPr>
          <p:cNvPr id="7" name="Rectangle: Rounded Corners 6">
            <a:extLst>
              <a:ext uri="{FF2B5EF4-FFF2-40B4-BE49-F238E27FC236}">
                <a16:creationId xmlns:a16="http://schemas.microsoft.com/office/drawing/2014/main" id="{5F155E07-62F2-50FE-0A01-14C081A0D23C}"/>
              </a:ext>
            </a:extLst>
          </p:cNvPr>
          <p:cNvSpPr/>
          <p:nvPr/>
        </p:nvSpPr>
        <p:spPr>
          <a:xfrm>
            <a:off x="1556657" y="4288971"/>
            <a:ext cx="3243943" cy="20247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bg1"/>
                </a:solidFill>
              </a:rPr>
              <a:t>2010s - Cloud &amp; Collaboration</a:t>
            </a:r>
          </a:p>
          <a:p>
            <a:pPr marL="285750" indent="-285750">
              <a:buFont typeface="Arial" panose="020B0604020202020204" pitchFamily="34" charset="0"/>
              <a:buChar char="•"/>
            </a:pPr>
            <a:r>
              <a:rPr lang="en-IN" dirty="0">
                <a:solidFill>
                  <a:schemeClr val="bg1"/>
                </a:solidFill>
              </a:rPr>
              <a:t>Real-time collaboration</a:t>
            </a:r>
          </a:p>
          <a:p>
            <a:pPr marL="285750" indent="-285750">
              <a:buFont typeface="Arial" panose="020B0604020202020204" pitchFamily="34" charset="0"/>
              <a:buChar char="•"/>
            </a:pPr>
            <a:r>
              <a:rPr lang="en-IN" dirty="0">
                <a:solidFill>
                  <a:schemeClr val="bg1"/>
                </a:solidFill>
              </a:rPr>
              <a:t>Mobile applications</a:t>
            </a:r>
          </a:p>
          <a:p>
            <a:pPr marL="285750" indent="-285750">
              <a:buFont typeface="Arial" panose="020B0604020202020204" pitchFamily="34" charset="0"/>
              <a:buChar char="•"/>
            </a:pPr>
            <a:r>
              <a:rPr lang="en-IN" dirty="0">
                <a:solidFill>
                  <a:schemeClr val="bg1"/>
                </a:solidFill>
              </a:rPr>
              <a:t>Integration ecosystems</a:t>
            </a:r>
          </a:p>
        </p:txBody>
      </p:sp>
      <p:sp>
        <p:nvSpPr>
          <p:cNvPr id="8" name="Rectangle: Rounded Corners 7">
            <a:extLst>
              <a:ext uri="{FF2B5EF4-FFF2-40B4-BE49-F238E27FC236}">
                <a16:creationId xmlns:a16="http://schemas.microsoft.com/office/drawing/2014/main" id="{A5DA520A-1589-406D-9708-95C8263FC3D8}"/>
              </a:ext>
            </a:extLst>
          </p:cNvPr>
          <p:cNvSpPr/>
          <p:nvPr/>
        </p:nvSpPr>
        <p:spPr>
          <a:xfrm>
            <a:off x="7598228" y="4288970"/>
            <a:ext cx="3243943" cy="20247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bg1"/>
                </a:solidFill>
              </a:rPr>
              <a:t>2020s - AI &amp; Automation</a:t>
            </a:r>
          </a:p>
          <a:p>
            <a:pPr marL="285750" indent="-285750">
              <a:buFont typeface="Arial" panose="020B0604020202020204" pitchFamily="34" charset="0"/>
              <a:buChar char="•"/>
            </a:pPr>
            <a:r>
              <a:rPr lang="en-IN" dirty="0">
                <a:solidFill>
                  <a:schemeClr val="bg1"/>
                </a:solidFill>
              </a:rPr>
              <a:t>Intelligent automation</a:t>
            </a:r>
          </a:p>
          <a:p>
            <a:pPr marL="285750" indent="-285750">
              <a:buFont typeface="Arial" panose="020B0604020202020204" pitchFamily="34" charset="0"/>
              <a:buChar char="•"/>
            </a:pPr>
            <a:r>
              <a:rPr lang="en-IN" dirty="0">
                <a:solidFill>
                  <a:schemeClr val="bg1"/>
                </a:solidFill>
              </a:rPr>
              <a:t>Predictive analytics</a:t>
            </a:r>
          </a:p>
          <a:p>
            <a:pPr marL="285750" indent="-285750">
              <a:buFont typeface="Arial" panose="020B0604020202020204" pitchFamily="34" charset="0"/>
              <a:buChar char="•"/>
            </a:pPr>
            <a:r>
              <a:rPr lang="en-IN" dirty="0">
                <a:solidFill>
                  <a:schemeClr val="bg1"/>
                </a:solidFill>
              </a:rPr>
              <a:t>Advanced integrations</a:t>
            </a:r>
          </a:p>
          <a:p>
            <a:endParaRPr lang="en-IN" dirty="0">
              <a:solidFill>
                <a:schemeClr val="bg1"/>
              </a:solidFill>
            </a:endParaRPr>
          </a:p>
        </p:txBody>
      </p:sp>
    </p:spTree>
    <p:extLst>
      <p:ext uri="{BB962C8B-B14F-4D97-AF65-F5344CB8AC3E}">
        <p14:creationId xmlns:p14="http://schemas.microsoft.com/office/powerpoint/2010/main" val="4045539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2E272F-63EA-779B-CFD7-1EC211BE350B}"/>
              </a:ext>
            </a:extLst>
          </p:cNvPr>
          <p:cNvSpPr>
            <a:spLocks noGrp="1"/>
          </p:cNvSpPr>
          <p:nvPr>
            <p:ph idx="1"/>
          </p:nvPr>
        </p:nvSpPr>
        <p:spPr>
          <a:xfrm>
            <a:off x="838200" y="432254"/>
            <a:ext cx="10515600" cy="4351338"/>
          </a:xfrm>
        </p:spPr>
        <p:txBody>
          <a:bodyPr/>
          <a:lstStyle/>
          <a:p>
            <a:pPr marL="0" indent="0">
              <a:buNone/>
            </a:pPr>
            <a:r>
              <a:rPr lang="en-IN" dirty="0"/>
              <a:t>WHY THIS STUDY MATTERS</a:t>
            </a:r>
          </a:p>
          <a:p>
            <a:r>
              <a:rPr lang="en-US" sz="2400" b="1" dirty="0"/>
              <a:t>Market Saturation</a:t>
            </a:r>
            <a:r>
              <a:rPr lang="en-US" sz="2400" dirty="0"/>
              <a:t>: Over 300+ PM tools available today</a:t>
            </a:r>
          </a:p>
          <a:p>
            <a:r>
              <a:rPr lang="en-US" sz="2400" b="1" dirty="0"/>
              <a:t>Investment Impact</a:t>
            </a:r>
            <a:r>
              <a:rPr lang="en-US" sz="2400" dirty="0"/>
              <a:t>: Tool selection affects ROI and productivity</a:t>
            </a:r>
          </a:p>
          <a:p>
            <a:r>
              <a:rPr lang="en-IN" sz="2400" b="1" dirty="0"/>
              <a:t>Adoption Challenges</a:t>
            </a:r>
            <a:r>
              <a:rPr lang="en-IN" sz="2400" dirty="0"/>
              <a:t>: 70% of digital transformations fail</a:t>
            </a:r>
          </a:p>
          <a:p>
            <a:r>
              <a:rPr lang="en-US" sz="2400" b="1" dirty="0"/>
              <a:t>Need for Guidance</a:t>
            </a:r>
            <a:r>
              <a:rPr lang="en-US" sz="2400" dirty="0"/>
              <a:t>: Evidence-based selection frameworks required</a:t>
            </a:r>
            <a:endParaRPr lang="en-IN" sz="2400" dirty="0"/>
          </a:p>
        </p:txBody>
      </p:sp>
    </p:spTree>
    <p:extLst>
      <p:ext uri="{BB962C8B-B14F-4D97-AF65-F5344CB8AC3E}">
        <p14:creationId xmlns:p14="http://schemas.microsoft.com/office/powerpoint/2010/main" val="3473717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0CF5-9D4D-8664-B433-F3C2AE77613F}"/>
              </a:ext>
            </a:extLst>
          </p:cNvPr>
          <p:cNvSpPr>
            <a:spLocks noGrp="1"/>
          </p:cNvSpPr>
          <p:nvPr>
            <p:ph type="title"/>
          </p:nvPr>
        </p:nvSpPr>
        <p:spPr>
          <a:xfrm>
            <a:off x="838200" y="97972"/>
            <a:ext cx="10515600" cy="1143000"/>
          </a:xfrm>
        </p:spPr>
        <p:txBody>
          <a:bodyPr/>
          <a:lstStyle/>
          <a:p>
            <a:pPr algn="ctr"/>
            <a:r>
              <a:rPr lang="en-IN" dirty="0">
                <a:latin typeface="Verdana" panose="020B0604030504040204" pitchFamily="34" charset="0"/>
                <a:ea typeface="Verdana" panose="020B0604030504040204" pitchFamily="34" charset="0"/>
              </a:rPr>
              <a:t>RESEARCH METHODOLOGY</a:t>
            </a:r>
          </a:p>
        </p:txBody>
      </p:sp>
      <p:sp>
        <p:nvSpPr>
          <p:cNvPr id="3" name="Content Placeholder 2">
            <a:extLst>
              <a:ext uri="{FF2B5EF4-FFF2-40B4-BE49-F238E27FC236}">
                <a16:creationId xmlns:a16="http://schemas.microsoft.com/office/drawing/2014/main" id="{907FE5FF-D14D-348D-5F2C-12C5C3D0770D}"/>
              </a:ext>
            </a:extLst>
          </p:cNvPr>
          <p:cNvSpPr>
            <a:spLocks noGrp="1"/>
          </p:cNvSpPr>
          <p:nvPr>
            <p:ph idx="1"/>
          </p:nvPr>
        </p:nvSpPr>
        <p:spPr>
          <a:xfrm>
            <a:off x="838200" y="1240972"/>
            <a:ext cx="10515600" cy="4935991"/>
          </a:xfrm>
        </p:spPr>
        <p:txBody>
          <a:bodyPr/>
          <a:lstStyle/>
          <a:p>
            <a:pPr marL="0" indent="0">
              <a:buNone/>
            </a:pPr>
            <a:r>
              <a:rPr lang="en-IN" dirty="0"/>
              <a:t>PROBLEM STATEMENT</a:t>
            </a:r>
          </a:p>
          <a:p>
            <a:pPr marL="0" indent="0">
              <a:buNone/>
            </a:pPr>
            <a:r>
              <a:rPr lang="en-US" sz="2400" dirty="0"/>
              <a:t>To evaluate and compare JIRA, Trello, and MS Project based on features, usability, cost-effectiveness, and suitability for different organizational contexts.</a:t>
            </a:r>
          </a:p>
          <a:p>
            <a:pPr marL="0" indent="0">
              <a:buNone/>
            </a:pPr>
            <a:endParaRPr lang="en-US" sz="2400" dirty="0"/>
          </a:p>
          <a:p>
            <a:pPr marL="0" indent="0">
              <a:buNone/>
            </a:pPr>
            <a:r>
              <a:rPr lang="en-IN" dirty="0"/>
              <a:t>RESEARCH OBJECTIVES</a:t>
            </a:r>
          </a:p>
          <a:p>
            <a:pPr marL="457200" indent="-457200">
              <a:buFont typeface="+mj-lt"/>
              <a:buAutoNum type="arabicPeriod"/>
            </a:pPr>
            <a:r>
              <a:rPr lang="en-US" sz="2400" dirty="0"/>
              <a:t>Analyze core features and capabilities of each tool</a:t>
            </a:r>
          </a:p>
          <a:p>
            <a:pPr marL="457200" indent="-457200">
              <a:buFont typeface="+mj-lt"/>
              <a:buAutoNum type="arabicPeriod"/>
            </a:pPr>
            <a:r>
              <a:rPr lang="en-US" sz="2400" dirty="0"/>
              <a:t>Compare user experience and learning curves</a:t>
            </a:r>
          </a:p>
          <a:p>
            <a:pPr marL="457200" indent="-457200">
              <a:buFont typeface="+mj-lt"/>
              <a:buAutoNum type="arabicPeriod"/>
            </a:pPr>
            <a:r>
              <a:rPr lang="en-IN" sz="2400" dirty="0"/>
              <a:t>Evaluate cost-benefit ratios</a:t>
            </a:r>
          </a:p>
          <a:p>
            <a:pPr marL="457200" indent="-457200">
              <a:buFont typeface="+mj-lt"/>
              <a:buAutoNum type="arabicPeriod"/>
            </a:pPr>
            <a:r>
              <a:rPr lang="en-US" sz="2400" dirty="0"/>
              <a:t>Assess integration and scalability options</a:t>
            </a:r>
          </a:p>
          <a:p>
            <a:pPr marL="457200" indent="-457200">
              <a:buFont typeface="+mj-lt"/>
              <a:buAutoNum type="arabicPeriod"/>
            </a:pPr>
            <a:r>
              <a:rPr lang="en-US" sz="2400" dirty="0"/>
              <a:t>Develop a tool selection framework</a:t>
            </a:r>
            <a:endParaRPr lang="en-IN" sz="2400" dirty="0"/>
          </a:p>
          <a:p>
            <a:pPr marL="0" indent="0">
              <a:buNone/>
            </a:pPr>
            <a:endParaRPr lang="en-US" sz="2400" dirty="0"/>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329423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CCB7C-3AFC-E9D0-34D1-DA929F34152D}"/>
              </a:ext>
            </a:extLst>
          </p:cNvPr>
          <p:cNvSpPr>
            <a:spLocks noGrp="1"/>
          </p:cNvSpPr>
          <p:nvPr>
            <p:ph idx="1"/>
          </p:nvPr>
        </p:nvSpPr>
        <p:spPr>
          <a:xfrm>
            <a:off x="772888" y="2347809"/>
            <a:ext cx="4953000" cy="2296885"/>
          </a:xfrm>
        </p:spPr>
        <p:txBody>
          <a:bodyPr>
            <a:normAutofit/>
          </a:bodyPr>
          <a:lstStyle/>
          <a:p>
            <a:pPr marL="0" indent="0">
              <a:buFont typeface="Arial" panose="020B0604020202020204" pitchFamily="34" charset="0"/>
              <a:buNone/>
            </a:pPr>
            <a:r>
              <a:rPr lang="en-IN" dirty="0"/>
              <a:t>Quantitative Approach:</a:t>
            </a:r>
          </a:p>
          <a:p>
            <a:r>
              <a:rPr lang="en-IN" dirty="0"/>
              <a:t>Survey of 100+ users</a:t>
            </a:r>
          </a:p>
          <a:p>
            <a:r>
              <a:rPr lang="en-IN" dirty="0"/>
              <a:t>Performance metrics analysis</a:t>
            </a:r>
          </a:p>
          <a:p>
            <a:r>
              <a:rPr lang="en-IN" dirty="0"/>
              <a:t>Cost analysis and comparison</a:t>
            </a:r>
          </a:p>
          <a:p>
            <a:pPr marL="0" indent="0">
              <a:buFont typeface="Arial" panose="020B0604020202020204" pitchFamily="34" charset="0"/>
              <a:buNone/>
            </a:pPr>
            <a:endParaRPr lang="en-IN" dirty="0"/>
          </a:p>
          <a:p>
            <a:pPr marL="0" indent="0">
              <a:buFont typeface="Arial" panose="020B0604020202020204" pitchFamily="34" charset="0"/>
              <a:buNone/>
            </a:pPr>
            <a:endParaRPr lang="en-IN" dirty="0"/>
          </a:p>
        </p:txBody>
      </p:sp>
      <p:sp>
        <p:nvSpPr>
          <p:cNvPr id="2" name="TextBox 1">
            <a:extLst>
              <a:ext uri="{FF2B5EF4-FFF2-40B4-BE49-F238E27FC236}">
                <a16:creationId xmlns:a16="http://schemas.microsoft.com/office/drawing/2014/main" id="{29D4D3C5-90FD-CC44-85B9-658EEED93F55}"/>
              </a:ext>
            </a:extLst>
          </p:cNvPr>
          <p:cNvSpPr txBox="1"/>
          <p:nvPr/>
        </p:nvSpPr>
        <p:spPr>
          <a:xfrm>
            <a:off x="6999514" y="2482127"/>
            <a:ext cx="4419598" cy="2028248"/>
          </a:xfrm>
          <a:prstGeom prst="rect">
            <a:avLst/>
          </a:prstGeom>
          <a:noFill/>
        </p:spPr>
        <p:txBody>
          <a:bodyPr wrap="square" rtlCol="0">
            <a:spAutoFit/>
          </a:bodyPr>
          <a:lstStyle/>
          <a:p>
            <a:pPr>
              <a:lnSpc>
                <a:spcPct val="90000"/>
              </a:lnSpc>
              <a:spcBef>
                <a:spcPts val="1000"/>
              </a:spcBef>
              <a:buFont typeface="Arial" panose="020B0604020202020204" pitchFamily="34" charset="0"/>
            </a:pPr>
            <a:r>
              <a:rPr lang="en-US" sz="2800" dirty="0"/>
              <a:t>Qualitative:</a:t>
            </a:r>
          </a:p>
          <a:p>
            <a:pPr marL="457200" indent="-457200">
              <a:lnSpc>
                <a:spcPct val="90000"/>
              </a:lnSpc>
              <a:spcBef>
                <a:spcPts val="1000"/>
              </a:spcBef>
              <a:buFont typeface="Arial" panose="020B0604020202020204" pitchFamily="34" charset="0"/>
              <a:buChar char="•"/>
            </a:pPr>
            <a:r>
              <a:rPr lang="en-US" sz="2800" dirty="0"/>
              <a:t>User interviews</a:t>
            </a:r>
          </a:p>
          <a:p>
            <a:pPr marL="457200" indent="-457200">
              <a:lnSpc>
                <a:spcPct val="90000"/>
              </a:lnSpc>
              <a:spcBef>
                <a:spcPts val="1000"/>
              </a:spcBef>
              <a:buFont typeface="Arial" panose="020B0604020202020204" pitchFamily="34" charset="0"/>
              <a:buChar char="•"/>
            </a:pPr>
            <a:r>
              <a:rPr lang="en-US" sz="2800" dirty="0"/>
              <a:t>Case studies</a:t>
            </a:r>
          </a:p>
          <a:p>
            <a:pPr marL="457200" indent="-457200">
              <a:lnSpc>
                <a:spcPct val="90000"/>
              </a:lnSpc>
              <a:spcBef>
                <a:spcPts val="1000"/>
              </a:spcBef>
              <a:buFont typeface="Arial" panose="020B0604020202020204" pitchFamily="34" charset="0"/>
              <a:buChar char="•"/>
            </a:pPr>
            <a:r>
              <a:rPr lang="en-US" sz="2800" dirty="0"/>
              <a:t>Expert reviews</a:t>
            </a:r>
          </a:p>
        </p:txBody>
      </p:sp>
      <p:sp>
        <p:nvSpPr>
          <p:cNvPr id="4" name="TextBox 3">
            <a:extLst>
              <a:ext uri="{FF2B5EF4-FFF2-40B4-BE49-F238E27FC236}">
                <a16:creationId xmlns:a16="http://schemas.microsoft.com/office/drawing/2014/main" id="{7A861820-E5FF-6494-3EBE-62F49694A475}"/>
              </a:ext>
            </a:extLst>
          </p:cNvPr>
          <p:cNvSpPr txBox="1"/>
          <p:nvPr/>
        </p:nvSpPr>
        <p:spPr>
          <a:xfrm>
            <a:off x="2030186" y="1088572"/>
            <a:ext cx="7848600" cy="523220"/>
          </a:xfrm>
          <a:prstGeom prst="rect">
            <a:avLst/>
          </a:prstGeom>
          <a:noFill/>
        </p:spPr>
        <p:txBody>
          <a:bodyPr wrap="square" rtlCol="0">
            <a:spAutoFit/>
          </a:bodyPr>
          <a:lstStyle/>
          <a:p>
            <a:pPr algn="ctr"/>
            <a:r>
              <a:rPr lang="en-IN" sz="2800" b="1" dirty="0"/>
              <a:t>Research Design</a:t>
            </a:r>
          </a:p>
        </p:txBody>
      </p:sp>
    </p:spTree>
    <p:extLst>
      <p:ext uri="{BB962C8B-B14F-4D97-AF65-F5344CB8AC3E}">
        <p14:creationId xmlns:p14="http://schemas.microsoft.com/office/powerpoint/2010/main" val="352800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9A5BC2B-1781-DD24-96E7-EDDA5DA11C97}"/>
              </a:ext>
            </a:extLst>
          </p:cNvPr>
          <p:cNvSpPr>
            <a:spLocks noGrp="1"/>
          </p:cNvSpPr>
          <p:nvPr>
            <p:ph type="title"/>
          </p:nvPr>
        </p:nvSpPr>
        <p:spPr>
          <a:xfrm>
            <a:off x="838200" y="365126"/>
            <a:ext cx="10515600" cy="804456"/>
          </a:xfrm>
        </p:spPr>
        <p:txBody>
          <a:bodyPr>
            <a:normAutofit fontScale="90000"/>
          </a:bodyPr>
          <a:lstStyle/>
          <a:p>
            <a:pPr algn="ctr"/>
            <a:r>
              <a:rPr lang="en-IN" dirty="0"/>
              <a:t>PROJECT MANAGEMENT TOOLS OVERVIEW</a:t>
            </a:r>
            <a:br>
              <a:rPr lang="en-IN" dirty="0"/>
            </a:br>
            <a:endParaRPr lang="en-IN" dirty="0"/>
          </a:p>
        </p:txBody>
      </p:sp>
      <p:sp>
        <p:nvSpPr>
          <p:cNvPr id="14" name="Rectangle: Rounded Corners 13">
            <a:extLst>
              <a:ext uri="{FF2B5EF4-FFF2-40B4-BE49-F238E27FC236}">
                <a16:creationId xmlns:a16="http://schemas.microsoft.com/office/drawing/2014/main" id="{9B1E2343-E2CF-0205-81F5-E03272CA2E21}"/>
              </a:ext>
            </a:extLst>
          </p:cNvPr>
          <p:cNvSpPr/>
          <p:nvPr/>
        </p:nvSpPr>
        <p:spPr>
          <a:xfrm>
            <a:off x="382772" y="1169582"/>
            <a:ext cx="3051544" cy="5323292"/>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endParaRPr lang="en-US" dirty="0"/>
          </a:p>
          <a:p>
            <a:endParaRPr lang="en-US" dirty="0"/>
          </a:p>
          <a:p>
            <a:pPr algn="ctr"/>
            <a:endParaRPr lang="en-IN" dirty="0"/>
          </a:p>
        </p:txBody>
      </p:sp>
      <p:sp>
        <p:nvSpPr>
          <p:cNvPr id="15" name="Rectangle: Rounded Corners 14">
            <a:extLst>
              <a:ext uri="{FF2B5EF4-FFF2-40B4-BE49-F238E27FC236}">
                <a16:creationId xmlns:a16="http://schemas.microsoft.com/office/drawing/2014/main" id="{2E81C98D-41AF-6118-86E4-30F83D715DC1}"/>
              </a:ext>
            </a:extLst>
          </p:cNvPr>
          <p:cNvSpPr/>
          <p:nvPr/>
        </p:nvSpPr>
        <p:spPr>
          <a:xfrm>
            <a:off x="4570226" y="1169581"/>
            <a:ext cx="3173819" cy="5323292"/>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67F50CE3-A6F3-38CE-7BF9-913B85647CE8}"/>
              </a:ext>
            </a:extLst>
          </p:cNvPr>
          <p:cNvSpPr/>
          <p:nvPr/>
        </p:nvSpPr>
        <p:spPr>
          <a:xfrm>
            <a:off x="8626548" y="1169582"/>
            <a:ext cx="3051544" cy="5323292"/>
          </a:xfrm>
          <a:prstGeom prst="round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7" name="TextBox 16">
            <a:extLst>
              <a:ext uri="{FF2B5EF4-FFF2-40B4-BE49-F238E27FC236}">
                <a16:creationId xmlns:a16="http://schemas.microsoft.com/office/drawing/2014/main" id="{4E5BB9B5-0BFF-3867-A011-17C0278CC5CD}"/>
              </a:ext>
            </a:extLst>
          </p:cNvPr>
          <p:cNvSpPr txBox="1"/>
          <p:nvPr/>
        </p:nvSpPr>
        <p:spPr>
          <a:xfrm>
            <a:off x="1158949" y="1571810"/>
            <a:ext cx="1392865" cy="461665"/>
          </a:xfrm>
          <a:prstGeom prst="rect">
            <a:avLst/>
          </a:prstGeom>
          <a:noFill/>
        </p:spPr>
        <p:txBody>
          <a:bodyPr wrap="square" rtlCol="0">
            <a:spAutoFit/>
          </a:bodyPr>
          <a:lstStyle/>
          <a:p>
            <a:pPr algn="ctr"/>
            <a:r>
              <a:rPr lang="en-IN" sz="2400" b="1" dirty="0">
                <a:solidFill>
                  <a:schemeClr val="accent1"/>
                </a:solidFill>
              </a:rPr>
              <a:t>JIRA</a:t>
            </a:r>
          </a:p>
        </p:txBody>
      </p:sp>
      <p:sp>
        <p:nvSpPr>
          <p:cNvPr id="18" name="TextBox 17">
            <a:extLst>
              <a:ext uri="{FF2B5EF4-FFF2-40B4-BE49-F238E27FC236}">
                <a16:creationId xmlns:a16="http://schemas.microsoft.com/office/drawing/2014/main" id="{C3DC2933-A452-F164-D818-7AB4E82FB4AD}"/>
              </a:ext>
            </a:extLst>
          </p:cNvPr>
          <p:cNvSpPr txBox="1"/>
          <p:nvPr/>
        </p:nvSpPr>
        <p:spPr>
          <a:xfrm>
            <a:off x="760228" y="2548071"/>
            <a:ext cx="2296632" cy="1200329"/>
          </a:xfrm>
          <a:prstGeom prst="rect">
            <a:avLst/>
          </a:prstGeom>
          <a:noFill/>
        </p:spPr>
        <p:txBody>
          <a:bodyPr wrap="square" rtlCol="0">
            <a:spAutoFit/>
          </a:bodyPr>
          <a:lstStyle/>
          <a:p>
            <a:r>
              <a:rPr lang="en-US" b="1" dirty="0"/>
              <a:t>Developer:</a:t>
            </a:r>
            <a:r>
              <a:rPr lang="en-US" dirty="0"/>
              <a:t> Atlassian</a:t>
            </a:r>
          </a:p>
          <a:p>
            <a:r>
              <a:rPr lang="en-US" b="1" dirty="0"/>
              <a:t>Type:</a:t>
            </a:r>
            <a:r>
              <a:rPr lang="en-US" dirty="0"/>
              <a:t> Agile PM</a:t>
            </a:r>
          </a:p>
          <a:p>
            <a:r>
              <a:rPr lang="en-US" b="1" dirty="0"/>
              <a:t>Best For:</a:t>
            </a:r>
            <a:r>
              <a:rPr lang="en-US" dirty="0"/>
              <a:t> Software Development Teams</a:t>
            </a:r>
          </a:p>
        </p:txBody>
      </p:sp>
      <p:sp>
        <p:nvSpPr>
          <p:cNvPr id="19" name="TextBox 18">
            <a:extLst>
              <a:ext uri="{FF2B5EF4-FFF2-40B4-BE49-F238E27FC236}">
                <a16:creationId xmlns:a16="http://schemas.microsoft.com/office/drawing/2014/main" id="{A5AF3506-CA77-5825-5DCB-699306D0ED79}"/>
              </a:ext>
            </a:extLst>
          </p:cNvPr>
          <p:cNvSpPr txBox="1"/>
          <p:nvPr/>
        </p:nvSpPr>
        <p:spPr>
          <a:xfrm>
            <a:off x="746938" y="4262997"/>
            <a:ext cx="2126511" cy="1200329"/>
          </a:xfrm>
          <a:prstGeom prst="rect">
            <a:avLst/>
          </a:prstGeom>
          <a:noFill/>
        </p:spPr>
        <p:txBody>
          <a:bodyPr wrap="square" rtlCol="0">
            <a:spAutoFit/>
          </a:bodyPr>
          <a:lstStyle/>
          <a:p>
            <a:pPr algn="ctr"/>
            <a:r>
              <a:rPr lang="en-US" dirty="0"/>
              <a:t>Robust issue tracking and sprint management capabilities</a:t>
            </a:r>
          </a:p>
        </p:txBody>
      </p:sp>
      <p:sp>
        <p:nvSpPr>
          <p:cNvPr id="20" name="TextBox 19">
            <a:extLst>
              <a:ext uri="{FF2B5EF4-FFF2-40B4-BE49-F238E27FC236}">
                <a16:creationId xmlns:a16="http://schemas.microsoft.com/office/drawing/2014/main" id="{A67AC4CE-8A8D-78CD-D424-06B7E1DE2C7C}"/>
              </a:ext>
            </a:extLst>
          </p:cNvPr>
          <p:cNvSpPr txBox="1"/>
          <p:nvPr/>
        </p:nvSpPr>
        <p:spPr>
          <a:xfrm>
            <a:off x="5399567" y="1539377"/>
            <a:ext cx="1392865" cy="461665"/>
          </a:xfrm>
          <a:prstGeom prst="rect">
            <a:avLst/>
          </a:prstGeom>
          <a:noFill/>
        </p:spPr>
        <p:txBody>
          <a:bodyPr wrap="square" rtlCol="0">
            <a:spAutoFit/>
          </a:bodyPr>
          <a:lstStyle/>
          <a:p>
            <a:pPr algn="ctr"/>
            <a:r>
              <a:rPr lang="en-IN" sz="2400" b="1" dirty="0">
                <a:solidFill>
                  <a:schemeClr val="accent1"/>
                </a:solidFill>
              </a:rPr>
              <a:t>Trello</a:t>
            </a:r>
            <a:endParaRPr lang="en-IN" b="1" dirty="0"/>
          </a:p>
        </p:txBody>
      </p:sp>
      <p:sp>
        <p:nvSpPr>
          <p:cNvPr id="21" name="TextBox 20">
            <a:extLst>
              <a:ext uri="{FF2B5EF4-FFF2-40B4-BE49-F238E27FC236}">
                <a16:creationId xmlns:a16="http://schemas.microsoft.com/office/drawing/2014/main" id="{80B137D5-FBFA-2927-65A3-F2061CA0BB87}"/>
              </a:ext>
            </a:extLst>
          </p:cNvPr>
          <p:cNvSpPr txBox="1"/>
          <p:nvPr/>
        </p:nvSpPr>
        <p:spPr>
          <a:xfrm>
            <a:off x="9307034" y="1512373"/>
            <a:ext cx="1726017" cy="461665"/>
          </a:xfrm>
          <a:prstGeom prst="rect">
            <a:avLst/>
          </a:prstGeom>
          <a:noFill/>
        </p:spPr>
        <p:txBody>
          <a:bodyPr wrap="square" rtlCol="0">
            <a:spAutoFit/>
          </a:bodyPr>
          <a:lstStyle/>
          <a:p>
            <a:pPr algn="ctr"/>
            <a:r>
              <a:rPr lang="en-IN" sz="2400" b="1" dirty="0">
                <a:solidFill>
                  <a:schemeClr val="accent1"/>
                </a:solidFill>
              </a:rPr>
              <a:t>MS Project</a:t>
            </a:r>
          </a:p>
        </p:txBody>
      </p:sp>
      <p:sp>
        <p:nvSpPr>
          <p:cNvPr id="22" name="TextBox 21">
            <a:extLst>
              <a:ext uri="{FF2B5EF4-FFF2-40B4-BE49-F238E27FC236}">
                <a16:creationId xmlns:a16="http://schemas.microsoft.com/office/drawing/2014/main" id="{6787F7F1-31BB-9267-5BA7-09D4161B9DC7}"/>
              </a:ext>
            </a:extLst>
          </p:cNvPr>
          <p:cNvSpPr txBox="1"/>
          <p:nvPr/>
        </p:nvSpPr>
        <p:spPr>
          <a:xfrm>
            <a:off x="4947683" y="2630898"/>
            <a:ext cx="2296632" cy="1200329"/>
          </a:xfrm>
          <a:prstGeom prst="rect">
            <a:avLst/>
          </a:prstGeom>
          <a:noFill/>
        </p:spPr>
        <p:txBody>
          <a:bodyPr wrap="square" rtlCol="0">
            <a:spAutoFit/>
          </a:bodyPr>
          <a:lstStyle/>
          <a:p>
            <a:r>
              <a:rPr lang="en-US" b="1" dirty="0"/>
              <a:t>Developer:</a:t>
            </a:r>
            <a:r>
              <a:rPr lang="en-US" dirty="0"/>
              <a:t> Atlassian</a:t>
            </a:r>
          </a:p>
          <a:p>
            <a:r>
              <a:rPr lang="en-US" b="1" dirty="0"/>
              <a:t>Type:</a:t>
            </a:r>
            <a:r>
              <a:rPr lang="en-US" dirty="0"/>
              <a:t> Kanban Board</a:t>
            </a:r>
          </a:p>
          <a:p>
            <a:r>
              <a:rPr lang="en-US" b="1" dirty="0"/>
              <a:t>Best For:</a:t>
            </a:r>
            <a:r>
              <a:rPr lang="en-US" dirty="0"/>
              <a:t> Visual Task Management</a:t>
            </a:r>
          </a:p>
        </p:txBody>
      </p:sp>
      <p:sp>
        <p:nvSpPr>
          <p:cNvPr id="23" name="TextBox 22">
            <a:extLst>
              <a:ext uri="{FF2B5EF4-FFF2-40B4-BE49-F238E27FC236}">
                <a16:creationId xmlns:a16="http://schemas.microsoft.com/office/drawing/2014/main" id="{DC5F1DC1-A2CF-5655-D25A-46511C883483}"/>
              </a:ext>
            </a:extLst>
          </p:cNvPr>
          <p:cNvSpPr txBox="1"/>
          <p:nvPr/>
        </p:nvSpPr>
        <p:spPr>
          <a:xfrm>
            <a:off x="8819707" y="2630898"/>
            <a:ext cx="2296632" cy="1200329"/>
          </a:xfrm>
          <a:prstGeom prst="rect">
            <a:avLst/>
          </a:prstGeom>
          <a:noFill/>
        </p:spPr>
        <p:txBody>
          <a:bodyPr wrap="square" rtlCol="0">
            <a:spAutoFit/>
          </a:bodyPr>
          <a:lstStyle/>
          <a:p>
            <a:r>
              <a:rPr lang="en-US" b="1" dirty="0"/>
              <a:t>Developer:</a:t>
            </a:r>
            <a:r>
              <a:rPr lang="en-US" dirty="0"/>
              <a:t> Microsoft</a:t>
            </a:r>
          </a:p>
          <a:p>
            <a:r>
              <a:rPr lang="en-US" b="1" dirty="0"/>
              <a:t>Type:</a:t>
            </a:r>
            <a:r>
              <a:rPr lang="en-US" dirty="0"/>
              <a:t> Traditional PM</a:t>
            </a:r>
          </a:p>
          <a:p>
            <a:r>
              <a:rPr lang="en-US" b="1" dirty="0"/>
              <a:t>Best For:</a:t>
            </a:r>
            <a:r>
              <a:rPr lang="en-US" dirty="0"/>
              <a:t> Complex Enterprise Projects</a:t>
            </a:r>
          </a:p>
        </p:txBody>
      </p:sp>
      <p:sp>
        <p:nvSpPr>
          <p:cNvPr id="26" name="TextBox 25">
            <a:extLst>
              <a:ext uri="{FF2B5EF4-FFF2-40B4-BE49-F238E27FC236}">
                <a16:creationId xmlns:a16="http://schemas.microsoft.com/office/drawing/2014/main" id="{E42BD8E8-3423-3220-77FE-37B7BAEA2140}"/>
              </a:ext>
            </a:extLst>
          </p:cNvPr>
          <p:cNvSpPr txBox="1"/>
          <p:nvPr/>
        </p:nvSpPr>
        <p:spPr>
          <a:xfrm>
            <a:off x="4945912" y="4262994"/>
            <a:ext cx="2126511" cy="923330"/>
          </a:xfrm>
          <a:prstGeom prst="rect">
            <a:avLst/>
          </a:prstGeom>
          <a:noFill/>
        </p:spPr>
        <p:txBody>
          <a:bodyPr wrap="square" rtlCol="0">
            <a:spAutoFit/>
          </a:bodyPr>
          <a:lstStyle/>
          <a:p>
            <a:pPr algn="ctr"/>
            <a:r>
              <a:rPr lang="en-US" dirty="0"/>
              <a:t>Simple, intuitive interface for any team size</a:t>
            </a:r>
          </a:p>
        </p:txBody>
      </p:sp>
      <p:sp>
        <p:nvSpPr>
          <p:cNvPr id="27" name="TextBox 26">
            <a:extLst>
              <a:ext uri="{FF2B5EF4-FFF2-40B4-BE49-F238E27FC236}">
                <a16:creationId xmlns:a16="http://schemas.microsoft.com/office/drawing/2014/main" id="{CB7948EA-7F4C-D10B-C7CF-8747BD9F91B8}"/>
              </a:ext>
            </a:extLst>
          </p:cNvPr>
          <p:cNvSpPr txBox="1"/>
          <p:nvPr/>
        </p:nvSpPr>
        <p:spPr>
          <a:xfrm>
            <a:off x="9089064" y="4262994"/>
            <a:ext cx="2126511" cy="1200329"/>
          </a:xfrm>
          <a:prstGeom prst="rect">
            <a:avLst/>
          </a:prstGeom>
          <a:noFill/>
        </p:spPr>
        <p:txBody>
          <a:bodyPr wrap="square" rtlCol="0">
            <a:spAutoFit/>
          </a:bodyPr>
          <a:lstStyle/>
          <a:p>
            <a:pPr algn="ctr"/>
            <a:r>
              <a:rPr lang="en-IN" dirty="0"/>
              <a:t>Comprehensive resource and timeline management</a:t>
            </a:r>
            <a:endParaRPr lang="en-US" dirty="0"/>
          </a:p>
        </p:txBody>
      </p:sp>
    </p:spTree>
    <p:extLst>
      <p:ext uri="{BB962C8B-B14F-4D97-AF65-F5344CB8AC3E}">
        <p14:creationId xmlns:p14="http://schemas.microsoft.com/office/powerpoint/2010/main" val="613728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EBB55F-6417-A9BF-EA7C-D4F4CDCDE0A0}"/>
              </a:ext>
            </a:extLst>
          </p:cNvPr>
          <p:cNvSpPr>
            <a:spLocks noGrp="1"/>
          </p:cNvSpPr>
          <p:nvPr>
            <p:ph type="title"/>
          </p:nvPr>
        </p:nvSpPr>
        <p:spPr>
          <a:xfrm>
            <a:off x="838200" y="180753"/>
            <a:ext cx="10515600" cy="839973"/>
          </a:xfrm>
        </p:spPr>
        <p:txBody>
          <a:bodyPr/>
          <a:lstStyle/>
          <a:p>
            <a:pPr algn="ctr"/>
            <a:r>
              <a:rPr lang="en-IN" dirty="0"/>
              <a:t>JIRA - COMPREHENSIVE ANALYSIS</a:t>
            </a:r>
          </a:p>
        </p:txBody>
      </p:sp>
      <p:sp>
        <p:nvSpPr>
          <p:cNvPr id="4" name="Content Placeholder 3">
            <a:extLst>
              <a:ext uri="{FF2B5EF4-FFF2-40B4-BE49-F238E27FC236}">
                <a16:creationId xmlns:a16="http://schemas.microsoft.com/office/drawing/2014/main" id="{E2261A61-E392-1563-B9A9-762546F3319F}"/>
              </a:ext>
            </a:extLst>
          </p:cNvPr>
          <p:cNvSpPr>
            <a:spLocks noGrp="1"/>
          </p:cNvSpPr>
          <p:nvPr>
            <p:ph idx="1"/>
          </p:nvPr>
        </p:nvSpPr>
        <p:spPr>
          <a:xfrm>
            <a:off x="838200" y="1222744"/>
            <a:ext cx="3455020" cy="4865821"/>
          </a:xfrm>
        </p:spPr>
        <p:txBody>
          <a:bodyPr>
            <a:normAutofit lnSpcReduction="10000"/>
          </a:bodyPr>
          <a:lstStyle/>
          <a:p>
            <a:pPr marL="0" indent="0">
              <a:buNone/>
            </a:pPr>
            <a:r>
              <a:rPr lang="en-IN" b="1" dirty="0"/>
              <a:t>Key Strengths</a:t>
            </a:r>
          </a:p>
          <a:p>
            <a:r>
              <a:rPr lang="en-IN" dirty="0"/>
              <a:t>Advanced sprint planning</a:t>
            </a:r>
          </a:p>
          <a:p>
            <a:r>
              <a:rPr lang="en-IN" dirty="0"/>
              <a:t>Customizable workflows</a:t>
            </a:r>
          </a:p>
          <a:p>
            <a:r>
              <a:rPr lang="en-IN" dirty="0"/>
              <a:t>Powerful reporting &amp; analytics</a:t>
            </a:r>
          </a:p>
          <a:p>
            <a:r>
              <a:rPr lang="en-IN" dirty="0"/>
              <a:t>Extensive integration ecosystem</a:t>
            </a:r>
          </a:p>
          <a:p>
            <a:r>
              <a:rPr lang="en-IN" dirty="0"/>
              <a:t>Scrum &amp; Kanban support</a:t>
            </a:r>
          </a:p>
          <a:p>
            <a:endParaRPr lang="en-IN" dirty="0"/>
          </a:p>
          <a:p>
            <a:endParaRPr lang="en-IN" sz="2400" dirty="0"/>
          </a:p>
        </p:txBody>
      </p:sp>
      <p:sp>
        <p:nvSpPr>
          <p:cNvPr id="6" name="TextBox 5">
            <a:extLst>
              <a:ext uri="{FF2B5EF4-FFF2-40B4-BE49-F238E27FC236}">
                <a16:creationId xmlns:a16="http://schemas.microsoft.com/office/drawing/2014/main" id="{59A419F8-9B11-61E8-8C12-F669B0FDBF79}"/>
              </a:ext>
            </a:extLst>
          </p:cNvPr>
          <p:cNvSpPr txBox="1"/>
          <p:nvPr/>
        </p:nvSpPr>
        <p:spPr>
          <a:xfrm>
            <a:off x="6010508" y="1222744"/>
            <a:ext cx="4772721" cy="5017784"/>
          </a:xfrm>
          <a:prstGeom prst="rect">
            <a:avLst/>
          </a:prstGeom>
          <a:noFill/>
        </p:spPr>
        <p:txBody>
          <a:bodyPr wrap="square" rtlCol="0">
            <a:spAutoFit/>
          </a:bodyPr>
          <a:lstStyle/>
          <a:p>
            <a:r>
              <a:rPr lang="en-IN" sz="2800" b="1" dirty="0"/>
              <a:t>Limitations</a:t>
            </a:r>
          </a:p>
          <a:p>
            <a:pPr marL="228600" indent="-228600">
              <a:lnSpc>
                <a:spcPct val="90000"/>
              </a:lnSpc>
              <a:spcBef>
                <a:spcPts val="1000"/>
              </a:spcBef>
              <a:buFont typeface="Arial" panose="020B0604020202020204" pitchFamily="34" charset="0"/>
              <a:buChar char="•"/>
            </a:pPr>
            <a:r>
              <a:rPr lang="en-IN" sz="2800" dirty="0"/>
              <a:t>Steep learning curve</a:t>
            </a:r>
          </a:p>
          <a:p>
            <a:pPr marL="228600" indent="-228600">
              <a:lnSpc>
                <a:spcPct val="90000"/>
              </a:lnSpc>
              <a:spcBef>
                <a:spcPts val="1000"/>
              </a:spcBef>
              <a:buFont typeface="Arial" panose="020B0604020202020204" pitchFamily="34" charset="0"/>
              <a:buChar char="•"/>
            </a:pPr>
            <a:r>
              <a:rPr lang="en-IN" sz="2800" dirty="0"/>
              <a:t>Complex interface for beginners</a:t>
            </a:r>
          </a:p>
          <a:p>
            <a:pPr marL="228600" indent="-228600">
              <a:lnSpc>
                <a:spcPct val="90000"/>
              </a:lnSpc>
              <a:spcBef>
                <a:spcPts val="1000"/>
              </a:spcBef>
              <a:buFont typeface="Arial" panose="020B0604020202020204" pitchFamily="34" charset="0"/>
              <a:buChar char="•"/>
            </a:pPr>
            <a:r>
              <a:rPr lang="en-IN" sz="2800" dirty="0"/>
              <a:t>Higher cost for small teams</a:t>
            </a:r>
          </a:p>
          <a:p>
            <a:pPr marL="228600" indent="-228600">
              <a:lnSpc>
                <a:spcPct val="90000"/>
              </a:lnSpc>
              <a:spcBef>
                <a:spcPts val="1000"/>
              </a:spcBef>
              <a:buFont typeface="Arial" panose="020B0604020202020204" pitchFamily="34" charset="0"/>
              <a:buChar char="•"/>
            </a:pPr>
            <a:r>
              <a:rPr lang="en-IN" sz="2800" dirty="0"/>
              <a:t>Over-engineered for simple projects</a:t>
            </a:r>
          </a:p>
          <a:p>
            <a:pPr marL="228600" indent="-228600">
              <a:lnSpc>
                <a:spcPct val="90000"/>
              </a:lnSpc>
              <a:spcBef>
                <a:spcPts val="1000"/>
              </a:spcBef>
              <a:buFont typeface="Arial" panose="020B0604020202020204" pitchFamily="34" charset="0"/>
              <a:buChar char="•"/>
            </a:pPr>
            <a:endParaRPr lang="en-IN" sz="2800" dirty="0"/>
          </a:p>
          <a:p>
            <a:br>
              <a:rPr lang="en-IN" sz="2800" dirty="0"/>
            </a:br>
            <a:endParaRPr lang="en-IN" sz="2800" b="1" dirty="0"/>
          </a:p>
          <a:p>
            <a:endParaRPr lang="en-IN" dirty="0"/>
          </a:p>
        </p:txBody>
      </p:sp>
    </p:spTree>
    <p:extLst>
      <p:ext uri="{BB962C8B-B14F-4D97-AF65-F5344CB8AC3E}">
        <p14:creationId xmlns:p14="http://schemas.microsoft.com/office/powerpoint/2010/main" val="2263062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134B4C7-1E0F-DF4C-4055-B53BC4E66B8E}"/>
              </a:ext>
            </a:extLst>
          </p:cNvPr>
          <p:cNvSpPr>
            <a:spLocks noGrp="1"/>
          </p:cNvSpPr>
          <p:nvPr>
            <p:ph type="title"/>
          </p:nvPr>
        </p:nvSpPr>
        <p:spPr>
          <a:xfrm>
            <a:off x="838200" y="1"/>
            <a:ext cx="10515600" cy="1148575"/>
          </a:xfrm>
        </p:spPr>
        <p:txBody>
          <a:bodyPr/>
          <a:lstStyle/>
          <a:p>
            <a:pPr algn="ctr"/>
            <a:r>
              <a:rPr lang="en-IN" dirty="0"/>
              <a:t>Trello - COMPREHENSIVE ANALYSIS</a:t>
            </a:r>
          </a:p>
        </p:txBody>
      </p:sp>
      <p:sp>
        <p:nvSpPr>
          <p:cNvPr id="13" name="Content Placeholder 3">
            <a:extLst>
              <a:ext uri="{FF2B5EF4-FFF2-40B4-BE49-F238E27FC236}">
                <a16:creationId xmlns:a16="http://schemas.microsoft.com/office/drawing/2014/main" id="{CAA022B4-B00F-4514-A197-B976A09E3146}"/>
              </a:ext>
            </a:extLst>
          </p:cNvPr>
          <p:cNvSpPr txBox="1">
            <a:spLocks/>
          </p:cNvSpPr>
          <p:nvPr/>
        </p:nvSpPr>
        <p:spPr>
          <a:xfrm>
            <a:off x="838200" y="1222744"/>
            <a:ext cx="3455020" cy="486582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b="1" dirty="0"/>
              <a:t>Key Strengths</a:t>
            </a:r>
          </a:p>
          <a:p>
            <a:r>
              <a:rPr lang="en-IN" dirty="0"/>
              <a:t>Intuitive visual interface</a:t>
            </a:r>
          </a:p>
          <a:p>
            <a:r>
              <a:rPr lang="en-IN" dirty="0"/>
              <a:t>Easy to learn &amp; adopt</a:t>
            </a:r>
          </a:p>
          <a:p>
            <a:r>
              <a:rPr lang="en-IN" dirty="0"/>
              <a:t>Affordable pricing</a:t>
            </a:r>
          </a:p>
          <a:p>
            <a:r>
              <a:rPr lang="en-IN" dirty="0"/>
              <a:t>Flexible board system</a:t>
            </a:r>
          </a:p>
          <a:p>
            <a:r>
              <a:rPr lang="en-IN" dirty="0"/>
              <a:t>Great for collaboration</a:t>
            </a:r>
          </a:p>
          <a:p>
            <a:pPr marL="0" indent="0">
              <a:buNone/>
            </a:pPr>
            <a:endParaRPr lang="en-IN" dirty="0"/>
          </a:p>
          <a:p>
            <a:endParaRPr lang="en-IN" sz="2400" dirty="0"/>
          </a:p>
        </p:txBody>
      </p:sp>
      <p:sp>
        <p:nvSpPr>
          <p:cNvPr id="16" name="Content Placeholder 3">
            <a:extLst>
              <a:ext uri="{FF2B5EF4-FFF2-40B4-BE49-F238E27FC236}">
                <a16:creationId xmlns:a16="http://schemas.microsoft.com/office/drawing/2014/main" id="{8CFB1309-942E-C4A0-273B-3439E85FD428}"/>
              </a:ext>
            </a:extLst>
          </p:cNvPr>
          <p:cNvSpPr txBox="1">
            <a:spLocks/>
          </p:cNvSpPr>
          <p:nvPr/>
        </p:nvSpPr>
        <p:spPr>
          <a:xfrm>
            <a:off x="7023409" y="1148576"/>
            <a:ext cx="3455020" cy="486582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Limitations</a:t>
            </a:r>
          </a:p>
          <a:p>
            <a:r>
              <a:rPr lang="en-IN" dirty="0"/>
              <a:t>Limited advanced features</a:t>
            </a:r>
          </a:p>
          <a:p>
            <a:r>
              <a:rPr lang="en-IN" dirty="0"/>
              <a:t>Basic reporting capabilities</a:t>
            </a:r>
          </a:p>
          <a:p>
            <a:r>
              <a:rPr lang="en-IN" dirty="0"/>
              <a:t>Affordable pricing</a:t>
            </a:r>
          </a:p>
          <a:p>
            <a:r>
              <a:rPr lang="en-US" dirty="0"/>
              <a:t>Not ideal for complex projects</a:t>
            </a:r>
          </a:p>
          <a:p>
            <a:r>
              <a:rPr lang="en-IN" dirty="0"/>
              <a:t>Scalability concerns</a:t>
            </a:r>
          </a:p>
          <a:p>
            <a:pPr marL="0" indent="0">
              <a:buNone/>
            </a:pPr>
            <a:endParaRPr lang="en-IN" dirty="0"/>
          </a:p>
          <a:p>
            <a:endParaRPr lang="en-IN" sz="2400" dirty="0"/>
          </a:p>
        </p:txBody>
      </p:sp>
    </p:spTree>
    <p:extLst>
      <p:ext uri="{BB962C8B-B14F-4D97-AF65-F5344CB8AC3E}">
        <p14:creationId xmlns:p14="http://schemas.microsoft.com/office/powerpoint/2010/main" val="991395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893F6-D766-BCAC-A456-70B3024EDC24}"/>
              </a:ext>
            </a:extLst>
          </p:cNvPr>
          <p:cNvSpPr>
            <a:spLocks noGrp="1"/>
          </p:cNvSpPr>
          <p:nvPr>
            <p:ph type="title"/>
          </p:nvPr>
        </p:nvSpPr>
        <p:spPr>
          <a:xfrm>
            <a:off x="838200" y="1"/>
            <a:ext cx="10515600" cy="1260087"/>
          </a:xfrm>
        </p:spPr>
        <p:txBody>
          <a:bodyPr/>
          <a:lstStyle/>
          <a:p>
            <a:pPr algn="ctr"/>
            <a:r>
              <a:rPr lang="en-IN" dirty="0"/>
              <a:t>MS Project - COMPREHENSIVE ANALYSIS</a:t>
            </a:r>
          </a:p>
        </p:txBody>
      </p:sp>
      <p:sp>
        <p:nvSpPr>
          <p:cNvPr id="3" name="Content Placeholder 3">
            <a:extLst>
              <a:ext uri="{FF2B5EF4-FFF2-40B4-BE49-F238E27FC236}">
                <a16:creationId xmlns:a16="http://schemas.microsoft.com/office/drawing/2014/main" id="{2263704C-2456-6EEE-8302-44202E5E83D1}"/>
              </a:ext>
            </a:extLst>
          </p:cNvPr>
          <p:cNvSpPr txBox="1">
            <a:spLocks/>
          </p:cNvSpPr>
          <p:nvPr/>
        </p:nvSpPr>
        <p:spPr>
          <a:xfrm>
            <a:off x="838200" y="1222744"/>
            <a:ext cx="3455020" cy="4865821"/>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b="1" dirty="0"/>
              <a:t>Key Strengths</a:t>
            </a:r>
          </a:p>
          <a:p>
            <a:r>
              <a:rPr lang="en-IN" dirty="0"/>
              <a:t>Comprehensive resource management</a:t>
            </a:r>
          </a:p>
          <a:p>
            <a:r>
              <a:rPr lang="en-IN" dirty="0"/>
              <a:t>Advanced scheduling tools</a:t>
            </a:r>
          </a:p>
          <a:p>
            <a:r>
              <a:rPr lang="en-IN" dirty="0"/>
              <a:t>Gantt chart capabilities</a:t>
            </a:r>
          </a:p>
          <a:p>
            <a:r>
              <a:rPr lang="en-IN" dirty="0"/>
              <a:t>Budget tracking &amp; forecasting</a:t>
            </a:r>
          </a:p>
          <a:p>
            <a:r>
              <a:rPr lang="en-IN" dirty="0"/>
              <a:t>Microsoft ecosystem integration</a:t>
            </a:r>
          </a:p>
          <a:p>
            <a:pPr marL="0" indent="0">
              <a:buNone/>
            </a:pPr>
            <a:endParaRPr lang="en-IN" dirty="0"/>
          </a:p>
          <a:p>
            <a:endParaRPr lang="en-IN" sz="2400" dirty="0"/>
          </a:p>
        </p:txBody>
      </p:sp>
      <p:sp>
        <p:nvSpPr>
          <p:cNvPr id="4" name="Content Placeholder 3">
            <a:extLst>
              <a:ext uri="{FF2B5EF4-FFF2-40B4-BE49-F238E27FC236}">
                <a16:creationId xmlns:a16="http://schemas.microsoft.com/office/drawing/2014/main" id="{1EE5CBB8-8CCB-FC96-55C1-C007DD684C2E}"/>
              </a:ext>
            </a:extLst>
          </p:cNvPr>
          <p:cNvSpPr txBox="1">
            <a:spLocks/>
          </p:cNvSpPr>
          <p:nvPr/>
        </p:nvSpPr>
        <p:spPr>
          <a:xfrm>
            <a:off x="7023409" y="1148576"/>
            <a:ext cx="3455020" cy="486582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b="1" dirty="0"/>
              <a:t>Limitations</a:t>
            </a:r>
          </a:p>
          <a:p>
            <a:r>
              <a:rPr lang="en-IN" dirty="0"/>
              <a:t>Expensive licensing model</a:t>
            </a:r>
          </a:p>
          <a:p>
            <a:r>
              <a:rPr lang="en-IN" dirty="0"/>
              <a:t>Complex for casual users</a:t>
            </a:r>
          </a:p>
          <a:p>
            <a:r>
              <a:rPr lang="en-IN" dirty="0"/>
              <a:t>Desktop-focused approach</a:t>
            </a:r>
          </a:p>
          <a:p>
            <a:r>
              <a:rPr lang="en-IN" dirty="0"/>
              <a:t>Limited real-time collaboration</a:t>
            </a:r>
          </a:p>
          <a:p>
            <a:pPr marL="0" indent="0">
              <a:buNone/>
            </a:pPr>
            <a:endParaRPr lang="en-IN" dirty="0"/>
          </a:p>
          <a:p>
            <a:endParaRPr lang="en-IN" sz="2400" dirty="0"/>
          </a:p>
        </p:txBody>
      </p:sp>
    </p:spTree>
    <p:extLst>
      <p:ext uri="{BB962C8B-B14F-4D97-AF65-F5344CB8AC3E}">
        <p14:creationId xmlns:p14="http://schemas.microsoft.com/office/powerpoint/2010/main" val="2758434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0E90-DBA5-C321-CEDF-DC7D7A6A3EBB}"/>
              </a:ext>
            </a:extLst>
          </p:cNvPr>
          <p:cNvSpPr>
            <a:spLocks noGrp="1"/>
          </p:cNvSpPr>
          <p:nvPr>
            <p:ph type="title"/>
          </p:nvPr>
        </p:nvSpPr>
        <p:spPr>
          <a:xfrm>
            <a:off x="838200" y="122664"/>
            <a:ext cx="10515600" cy="1003609"/>
          </a:xfrm>
        </p:spPr>
        <p:txBody>
          <a:bodyPr>
            <a:normAutofit fontScale="90000"/>
          </a:bodyPr>
          <a:lstStyle/>
          <a:p>
            <a:pPr algn="ctr"/>
            <a:r>
              <a:rPr lang="en-IN" b="1" dirty="0"/>
              <a:t>Feature Comparison Matrix</a:t>
            </a:r>
            <a:br>
              <a:rPr lang="en-IN" b="1" dirty="0"/>
            </a:br>
            <a:endParaRPr lang="en-IN" dirty="0"/>
          </a:p>
        </p:txBody>
      </p:sp>
      <p:graphicFrame>
        <p:nvGraphicFramePr>
          <p:cNvPr id="3" name="Table 2">
            <a:extLst>
              <a:ext uri="{FF2B5EF4-FFF2-40B4-BE49-F238E27FC236}">
                <a16:creationId xmlns:a16="http://schemas.microsoft.com/office/drawing/2014/main" id="{B3B75106-D262-1632-F992-DB19A9162E2B}"/>
              </a:ext>
            </a:extLst>
          </p:cNvPr>
          <p:cNvGraphicFramePr>
            <a:graphicFrameLocks noGrp="1"/>
          </p:cNvGraphicFramePr>
          <p:nvPr>
            <p:extLst>
              <p:ext uri="{D42A27DB-BD31-4B8C-83A1-F6EECF244321}">
                <p14:modId xmlns:p14="http://schemas.microsoft.com/office/powerpoint/2010/main" val="1439853089"/>
              </p:ext>
            </p:extLst>
          </p:nvPr>
        </p:nvGraphicFramePr>
        <p:xfrm>
          <a:off x="579862" y="853479"/>
          <a:ext cx="10939348" cy="5580774"/>
        </p:xfrm>
        <a:graphic>
          <a:graphicData uri="http://schemas.openxmlformats.org/drawingml/2006/table">
            <a:tbl>
              <a:tblPr firstRow="1" bandRow="1">
                <a:tableStyleId>{5C22544A-7EE6-4342-B048-85BDC9FD1C3A}</a:tableStyleId>
              </a:tblPr>
              <a:tblGrid>
                <a:gridCol w="2734837">
                  <a:extLst>
                    <a:ext uri="{9D8B030D-6E8A-4147-A177-3AD203B41FA5}">
                      <a16:colId xmlns:a16="http://schemas.microsoft.com/office/drawing/2014/main" val="3712662359"/>
                    </a:ext>
                  </a:extLst>
                </a:gridCol>
                <a:gridCol w="2734837">
                  <a:extLst>
                    <a:ext uri="{9D8B030D-6E8A-4147-A177-3AD203B41FA5}">
                      <a16:colId xmlns:a16="http://schemas.microsoft.com/office/drawing/2014/main" val="1637665918"/>
                    </a:ext>
                  </a:extLst>
                </a:gridCol>
                <a:gridCol w="2734837">
                  <a:extLst>
                    <a:ext uri="{9D8B030D-6E8A-4147-A177-3AD203B41FA5}">
                      <a16:colId xmlns:a16="http://schemas.microsoft.com/office/drawing/2014/main" val="656093148"/>
                    </a:ext>
                  </a:extLst>
                </a:gridCol>
                <a:gridCol w="2734837">
                  <a:extLst>
                    <a:ext uri="{9D8B030D-6E8A-4147-A177-3AD203B41FA5}">
                      <a16:colId xmlns:a16="http://schemas.microsoft.com/office/drawing/2014/main" val="2081034694"/>
                    </a:ext>
                  </a:extLst>
                </a:gridCol>
              </a:tblGrid>
              <a:tr h="620086">
                <a:tc>
                  <a:txBody>
                    <a:bodyPr/>
                    <a:lstStyle/>
                    <a:p>
                      <a:pPr algn="ctr"/>
                      <a:r>
                        <a:rPr lang="en-IN" sz="1800" b="1" i="0" kern="1200" dirty="0">
                          <a:solidFill>
                            <a:schemeClr val="lt1"/>
                          </a:solidFill>
                          <a:effectLst/>
                          <a:latin typeface="+mn-lt"/>
                          <a:ea typeface="+mn-ea"/>
                          <a:cs typeface="+mn-cs"/>
                        </a:rPr>
                        <a:t>Feature</a:t>
                      </a:r>
                      <a:endParaRPr lang="en-IN" dirty="0"/>
                    </a:p>
                  </a:txBody>
                  <a:tcPr/>
                </a:tc>
                <a:tc>
                  <a:txBody>
                    <a:bodyPr/>
                    <a:lstStyle/>
                    <a:p>
                      <a:pPr algn="ctr"/>
                      <a:r>
                        <a:rPr lang="en-IN" sz="1800" b="1" i="0" kern="1200" dirty="0">
                          <a:solidFill>
                            <a:schemeClr val="lt1"/>
                          </a:solidFill>
                          <a:effectLst/>
                          <a:latin typeface="+mn-lt"/>
                          <a:ea typeface="+mn-ea"/>
                          <a:cs typeface="+mn-cs"/>
                        </a:rPr>
                        <a:t>JIRA</a:t>
                      </a:r>
                      <a:endParaRPr lang="en-IN" dirty="0"/>
                    </a:p>
                  </a:txBody>
                  <a:tcPr/>
                </a:tc>
                <a:tc>
                  <a:txBody>
                    <a:bodyPr/>
                    <a:lstStyle/>
                    <a:p>
                      <a:pPr algn="ctr"/>
                      <a:r>
                        <a:rPr lang="en-IN" sz="1800" b="1" i="0" kern="1200" dirty="0">
                          <a:solidFill>
                            <a:schemeClr val="lt1"/>
                          </a:solidFill>
                          <a:effectLst/>
                          <a:latin typeface="+mn-lt"/>
                          <a:ea typeface="+mn-ea"/>
                          <a:cs typeface="+mn-cs"/>
                        </a:rPr>
                        <a:t>Trello</a:t>
                      </a:r>
                      <a:endParaRPr lang="en-IN" dirty="0"/>
                    </a:p>
                  </a:txBody>
                  <a:tcPr/>
                </a:tc>
                <a:tc>
                  <a:txBody>
                    <a:bodyPr/>
                    <a:lstStyle/>
                    <a:p>
                      <a:pPr algn="ctr"/>
                      <a:r>
                        <a:rPr lang="en-IN" sz="1800" b="1" i="0" kern="1200" dirty="0">
                          <a:solidFill>
                            <a:schemeClr val="lt1"/>
                          </a:solidFill>
                          <a:effectLst/>
                          <a:latin typeface="+mn-lt"/>
                          <a:ea typeface="+mn-ea"/>
                          <a:cs typeface="+mn-cs"/>
                        </a:rPr>
                        <a:t>MS Project</a:t>
                      </a:r>
                      <a:endParaRPr lang="en-IN" dirty="0"/>
                    </a:p>
                  </a:txBody>
                  <a:tcPr/>
                </a:tc>
                <a:extLst>
                  <a:ext uri="{0D108BD9-81ED-4DB2-BD59-A6C34878D82A}">
                    <a16:rowId xmlns:a16="http://schemas.microsoft.com/office/drawing/2014/main" val="3422125589"/>
                  </a:ext>
                </a:extLst>
              </a:tr>
              <a:tr h="620086">
                <a:tc>
                  <a:txBody>
                    <a:bodyPr/>
                    <a:lstStyle/>
                    <a:p>
                      <a:pPr algn="l"/>
                      <a:r>
                        <a:rPr lang="en-IN" sz="1800" b="1" i="0" kern="1200" dirty="0">
                          <a:solidFill>
                            <a:schemeClr val="dk1"/>
                          </a:solidFill>
                          <a:effectLst/>
                          <a:latin typeface="+mn-lt"/>
                          <a:ea typeface="+mn-ea"/>
                          <a:cs typeface="+mn-cs"/>
                        </a:rPr>
                        <a:t>Ease of Use</a:t>
                      </a:r>
                      <a:endParaRPr lang="en-IN" dirty="0"/>
                    </a:p>
                  </a:txBody>
                  <a:tcPr/>
                </a:tc>
                <a:tc>
                  <a:txBody>
                    <a:bodyPr/>
                    <a:lstStyle/>
                    <a:p>
                      <a:pPr algn="ctr"/>
                      <a:r>
                        <a:rPr lang="en-IN" sz="1800" b="0" i="0" kern="1200" dirty="0">
                          <a:solidFill>
                            <a:schemeClr val="dk1"/>
                          </a:solidFill>
                          <a:effectLst/>
                          <a:latin typeface="+mn-lt"/>
                          <a:ea typeface="+mn-ea"/>
                          <a:cs typeface="+mn-cs"/>
                        </a:rPr>
                        <a:t>Medium</a:t>
                      </a:r>
                      <a:endParaRPr lang="en-IN" dirty="0"/>
                    </a:p>
                  </a:txBody>
                  <a:tcPr/>
                </a:tc>
                <a:tc>
                  <a:txBody>
                    <a:bodyPr/>
                    <a:lstStyle/>
                    <a:p>
                      <a:pPr algn="ctr"/>
                      <a:r>
                        <a:rPr lang="en-IN" sz="1800" b="0" i="0" kern="1200" dirty="0">
                          <a:solidFill>
                            <a:schemeClr val="dk1"/>
                          </a:solidFill>
                          <a:effectLst/>
                          <a:latin typeface="+mn-lt"/>
                          <a:ea typeface="+mn-ea"/>
                          <a:cs typeface="+mn-cs"/>
                        </a:rPr>
                        <a:t>High</a:t>
                      </a:r>
                      <a:endParaRPr lang="en-IN" dirty="0"/>
                    </a:p>
                  </a:txBody>
                  <a:tcPr/>
                </a:tc>
                <a:tc>
                  <a:txBody>
                    <a:bodyPr/>
                    <a:lstStyle/>
                    <a:p>
                      <a:pPr algn="ctr"/>
                      <a:r>
                        <a:rPr lang="en-IN" sz="1800" b="0" i="0" kern="1200" dirty="0">
                          <a:solidFill>
                            <a:schemeClr val="dk1"/>
                          </a:solidFill>
                          <a:effectLst/>
                          <a:latin typeface="+mn-lt"/>
                          <a:ea typeface="+mn-ea"/>
                          <a:cs typeface="+mn-cs"/>
                        </a:rPr>
                        <a:t>Low</a:t>
                      </a:r>
                      <a:endParaRPr lang="en-IN" dirty="0"/>
                    </a:p>
                  </a:txBody>
                  <a:tcPr/>
                </a:tc>
                <a:extLst>
                  <a:ext uri="{0D108BD9-81ED-4DB2-BD59-A6C34878D82A}">
                    <a16:rowId xmlns:a16="http://schemas.microsoft.com/office/drawing/2014/main" val="3703667785"/>
                  </a:ext>
                </a:extLst>
              </a:tr>
              <a:tr h="620086">
                <a:tc>
                  <a:txBody>
                    <a:bodyPr/>
                    <a:lstStyle/>
                    <a:p>
                      <a:r>
                        <a:rPr lang="en-IN" sz="1800" b="1" i="0" kern="1200" dirty="0">
                          <a:solidFill>
                            <a:schemeClr val="dk1"/>
                          </a:solidFill>
                          <a:effectLst/>
                          <a:latin typeface="+mn-lt"/>
                          <a:ea typeface="+mn-ea"/>
                          <a:cs typeface="+mn-cs"/>
                        </a:rPr>
                        <a:t>Task Management</a:t>
                      </a:r>
                      <a:endParaRPr lang="en-IN" dirty="0"/>
                    </a:p>
                  </a:txBody>
                  <a:tcPr/>
                </a:tc>
                <a:tc>
                  <a:txBody>
                    <a:bodyPr/>
                    <a:lstStyle/>
                    <a:p>
                      <a:pPr algn="ctr"/>
                      <a:r>
                        <a:rPr lang="en-IN" sz="1800" b="0" i="0" kern="1200" dirty="0">
                          <a:solidFill>
                            <a:schemeClr val="dk1"/>
                          </a:solidFill>
                          <a:effectLst/>
                          <a:latin typeface="+mn-lt"/>
                          <a:ea typeface="+mn-ea"/>
                          <a:cs typeface="+mn-cs"/>
                        </a:rPr>
                        <a:t>Excellent</a:t>
                      </a:r>
                      <a:endParaRPr lang="en-IN" dirty="0"/>
                    </a:p>
                  </a:txBody>
                  <a:tcPr/>
                </a:tc>
                <a:tc>
                  <a:txBody>
                    <a:bodyPr/>
                    <a:lstStyle/>
                    <a:p>
                      <a:pPr algn="ctr"/>
                      <a:r>
                        <a:rPr lang="en-IN" sz="1800" b="0" i="0" kern="1200" dirty="0">
                          <a:solidFill>
                            <a:schemeClr val="dk1"/>
                          </a:solidFill>
                          <a:effectLst/>
                          <a:latin typeface="+mn-lt"/>
                          <a:ea typeface="+mn-ea"/>
                          <a:cs typeface="+mn-cs"/>
                        </a:rPr>
                        <a:t>Good</a:t>
                      </a:r>
                      <a:endParaRPr lang="en-IN" dirty="0"/>
                    </a:p>
                  </a:txBody>
                  <a:tcPr/>
                </a:tc>
                <a:tc>
                  <a:txBody>
                    <a:bodyPr/>
                    <a:lstStyle/>
                    <a:p>
                      <a:pPr algn="ctr"/>
                      <a:r>
                        <a:rPr lang="en-IN" sz="1800" b="0" i="0" kern="1200" dirty="0">
                          <a:solidFill>
                            <a:schemeClr val="dk1"/>
                          </a:solidFill>
                          <a:effectLst/>
                          <a:latin typeface="+mn-lt"/>
                          <a:ea typeface="+mn-ea"/>
                          <a:cs typeface="+mn-cs"/>
                        </a:rPr>
                        <a:t>Excellent</a:t>
                      </a:r>
                      <a:endParaRPr lang="en-IN" dirty="0"/>
                    </a:p>
                  </a:txBody>
                  <a:tcPr/>
                </a:tc>
                <a:extLst>
                  <a:ext uri="{0D108BD9-81ED-4DB2-BD59-A6C34878D82A}">
                    <a16:rowId xmlns:a16="http://schemas.microsoft.com/office/drawing/2014/main" val="4160978627"/>
                  </a:ext>
                </a:extLst>
              </a:tr>
              <a:tr h="620086">
                <a:tc>
                  <a:txBody>
                    <a:bodyPr/>
                    <a:lstStyle/>
                    <a:p>
                      <a:r>
                        <a:rPr lang="en-IN" sz="1800" b="1" i="0" kern="1200" dirty="0">
                          <a:solidFill>
                            <a:schemeClr val="dk1"/>
                          </a:solidFill>
                          <a:effectLst/>
                          <a:latin typeface="+mn-lt"/>
                          <a:ea typeface="+mn-ea"/>
                          <a:cs typeface="+mn-cs"/>
                        </a:rPr>
                        <a:t>Agile Support</a:t>
                      </a:r>
                      <a:endParaRPr lang="en-IN" dirty="0"/>
                    </a:p>
                  </a:txBody>
                  <a:tcPr/>
                </a:tc>
                <a:tc>
                  <a:txBody>
                    <a:bodyPr/>
                    <a:lstStyle/>
                    <a:p>
                      <a:pPr algn="ctr"/>
                      <a:r>
                        <a:rPr lang="en-IN" sz="1800" b="0" i="0" kern="1200" dirty="0">
                          <a:solidFill>
                            <a:schemeClr val="dk1"/>
                          </a:solidFill>
                          <a:effectLst/>
                          <a:latin typeface="+mn-lt"/>
                          <a:ea typeface="+mn-ea"/>
                          <a:cs typeface="+mn-cs"/>
                        </a:rPr>
                        <a:t>Excellent</a:t>
                      </a:r>
                      <a:endParaRPr lang="en-IN" dirty="0"/>
                    </a:p>
                  </a:txBody>
                  <a:tcPr/>
                </a:tc>
                <a:tc>
                  <a:txBody>
                    <a:bodyPr/>
                    <a:lstStyle/>
                    <a:p>
                      <a:pPr algn="ctr"/>
                      <a:r>
                        <a:rPr lang="en-IN" sz="1800" b="0" i="0" kern="1200" dirty="0">
                          <a:solidFill>
                            <a:schemeClr val="dk1"/>
                          </a:solidFill>
                          <a:effectLst/>
                          <a:latin typeface="+mn-lt"/>
                          <a:ea typeface="+mn-ea"/>
                          <a:cs typeface="+mn-cs"/>
                        </a:rPr>
                        <a:t>Basic</a:t>
                      </a:r>
                      <a:endParaRPr lang="en-IN" dirty="0"/>
                    </a:p>
                  </a:txBody>
                  <a:tcPr/>
                </a:tc>
                <a:tc>
                  <a:txBody>
                    <a:bodyPr/>
                    <a:lstStyle/>
                    <a:p>
                      <a:pPr algn="ctr"/>
                      <a:r>
                        <a:rPr lang="en-IN" sz="1800" b="0" i="0" kern="1200" dirty="0">
                          <a:solidFill>
                            <a:schemeClr val="dk1"/>
                          </a:solidFill>
                          <a:effectLst/>
                          <a:latin typeface="+mn-lt"/>
                          <a:ea typeface="+mn-ea"/>
                          <a:cs typeface="+mn-cs"/>
                        </a:rPr>
                        <a:t>Limited</a:t>
                      </a:r>
                      <a:endParaRPr lang="en-IN" dirty="0"/>
                    </a:p>
                  </a:txBody>
                  <a:tcPr/>
                </a:tc>
                <a:extLst>
                  <a:ext uri="{0D108BD9-81ED-4DB2-BD59-A6C34878D82A}">
                    <a16:rowId xmlns:a16="http://schemas.microsoft.com/office/drawing/2014/main" val="1334853964"/>
                  </a:ext>
                </a:extLst>
              </a:tr>
              <a:tr h="620086">
                <a:tc>
                  <a:txBody>
                    <a:bodyPr/>
                    <a:lstStyle/>
                    <a:p>
                      <a:r>
                        <a:rPr lang="en-IN" sz="1800" b="1" i="0" kern="1200" dirty="0">
                          <a:solidFill>
                            <a:schemeClr val="dk1"/>
                          </a:solidFill>
                          <a:effectLst/>
                          <a:latin typeface="+mn-lt"/>
                          <a:ea typeface="+mn-ea"/>
                          <a:cs typeface="+mn-cs"/>
                        </a:rPr>
                        <a:t>Reporting</a:t>
                      </a:r>
                      <a:endParaRPr lang="en-IN" dirty="0"/>
                    </a:p>
                  </a:txBody>
                  <a:tcPr/>
                </a:tc>
                <a:tc>
                  <a:txBody>
                    <a:bodyPr/>
                    <a:lstStyle/>
                    <a:p>
                      <a:pPr algn="ctr"/>
                      <a:r>
                        <a:rPr lang="en-IN" sz="1800" b="0" i="0" kern="1200" dirty="0">
                          <a:solidFill>
                            <a:schemeClr val="dk1"/>
                          </a:solidFill>
                          <a:effectLst/>
                          <a:latin typeface="+mn-lt"/>
                          <a:ea typeface="+mn-ea"/>
                          <a:cs typeface="+mn-cs"/>
                        </a:rPr>
                        <a:t>Advanced</a:t>
                      </a:r>
                      <a:endParaRPr lang="en-IN" dirty="0"/>
                    </a:p>
                  </a:txBody>
                  <a:tcPr/>
                </a:tc>
                <a:tc>
                  <a:txBody>
                    <a:bodyPr/>
                    <a:lstStyle/>
                    <a:p>
                      <a:pPr algn="ctr"/>
                      <a:r>
                        <a:rPr lang="en-IN" sz="1800" b="0" i="0" kern="1200" dirty="0">
                          <a:solidFill>
                            <a:schemeClr val="dk1"/>
                          </a:solidFill>
                          <a:effectLst/>
                          <a:latin typeface="+mn-lt"/>
                          <a:ea typeface="+mn-ea"/>
                          <a:cs typeface="+mn-cs"/>
                        </a:rPr>
                        <a:t>Basic</a:t>
                      </a:r>
                      <a:endParaRPr lang="en-IN" dirty="0"/>
                    </a:p>
                  </a:txBody>
                  <a:tcPr/>
                </a:tc>
                <a:tc>
                  <a:txBody>
                    <a:bodyPr/>
                    <a:lstStyle/>
                    <a:p>
                      <a:pPr algn="ctr"/>
                      <a:r>
                        <a:rPr lang="en-IN" sz="1800" b="0" i="0" kern="1200" dirty="0">
                          <a:solidFill>
                            <a:schemeClr val="dk1"/>
                          </a:solidFill>
                          <a:effectLst/>
                          <a:latin typeface="+mn-lt"/>
                          <a:ea typeface="+mn-ea"/>
                          <a:cs typeface="+mn-cs"/>
                        </a:rPr>
                        <a:t>Advanced</a:t>
                      </a:r>
                      <a:endParaRPr lang="en-IN" dirty="0"/>
                    </a:p>
                  </a:txBody>
                  <a:tcPr/>
                </a:tc>
                <a:extLst>
                  <a:ext uri="{0D108BD9-81ED-4DB2-BD59-A6C34878D82A}">
                    <a16:rowId xmlns:a16="http://schemas.microsoft.com/office/drawing/2014/main" val="180221443"/>
                  </a:ext>
                </a:extLst>
              </a:tr>
              <a:tr h="620086">
                <a:tc>
                  <a:txBody>
                    <a:bodyPr/>
                    <a:lstStyle/>
                    <a:p>
                      <a:r>
                        <a:rPr lang="en-IN" sz="1800" b="1" i="0" kern="1200" dirty="0">
                          <a:solidFill>
                            <a:schemeClr val="dk1"/>
                          </a:solidFill>
                          <a:effectLst/>
                          <a:latin typeface="+mn-lt"/>
                          <a:ea typeface="+mn-ea"/>
                          <a:cs typeface="+mn-cs"/>
                        </a:rPr>
                        <a:t>Resource Management</a:t>
                      </a:r>
                      <a:endParaRPr lang="en-IN" dirty="0"/>
                    </a:p>
                  </a:txBody>
                  <a:tcPr/>
                </a:tc>
                <a:tc>
                  <a:txBody>
                    <a:bodyPr/>
                    <a:lstStyle/>
                    <a:p>
                      <a:pPr algn="ctr"/>
                      <a:r>
                        <a:rPr lang="en-IN" sz="1800" b="0" i="0" kern="1200" dirty="0">
                          <a:solidFill>
                            <a:schemeClr val="dk1"/>
                          </a:solidFill>
                          <a:effectLst/>
                          <a:latin typeface="+mn-lt"/>
                          <a:ea typeface="+mn-ea"/>
                          <a:cs typeface="+mn-cs"/>
                        </a:rPr>
                        <a:t>Good</a:t>
                      </a:r>
                      <a:endParaRPr lang="en-IN" dirty="0"/>
                    </a:p>
                  </a:txBody>
                  <a:tcPr/>
                </a:tc>
                <a:tc>
                  <a:txBody>
                    <a:bodyPr/>
                    <a:lstStyle/>
                    <a:p>
                      <a:pPr algn="ctr"/>
                      <a:r>
                        <a:rPr lang="en-IN" sz="1800" b="0" i="0" kern="1200" dirty="0">
                          <a:solidFill>
                            <a:schemeClr val="dk1"/>
                          </a:solidFill>
                          <a:effectLst/>
                          <a:latin typeface="+mn-lt"/>
                          <a:ea typeface="+mn-ea"/>
                          <a:cs typeface="+mn-cs"/>
                        </a:rPr>
                        <a:t>Limited</a:t>
                      </a:r>
                      <a:endParaRPr lang="en-IN" dirty="0"/>
                    </a:p>
                  </a:txBody>
                  <a:tcPr/>
                </a:tc>
                <a:tc>
                  <a:txBody>
                    <a:bodyPr/>
                    <a:lstStyle/>
                    <a:p>
                      <a:pPr algn="ctr"/>
                      <a:r>
                        <a:rPr lang="en-IN" sz="1800" b="0" i="0" kern="1200" dirty="0">
                          <a:solidFill>
                            <a:schemeClr val="dk1"/>
                          </a:solidFill>
                          <a:effectLst/>
                          <a:latin typeface="+mn-lt"/>
                          <a:ea typeface="+mn-ea"/>
                          <a:cs typeface="+mn-cs"/>
                        </a:rPr>
                        <a:t>Excellent</a:t>
                      </a:r>
                      <a:endParaRPr lang="en-IN" dirty="0"/>
                    </a:p>
                  </a:txBody>
                  <a:tcPr/>
                </a:tc>
                <a:extLst>
                  <a:ext uri="{0D108BD9-81ED-4DB2-BD59-A6C34878D82A}">
                    <a16:rowId xmlns:a16="http://schemas.microsoft.com/office/drawing/2014/main" val="622136901"/>
                  </a:ext>
                </a:extLst>
              </a:tr>
              <a:tr h="620086">
                <a:tc>
                  <a:txBody>
                    <a:bodyPr/>
                    <a:lstStyle/>
                    <a:p>
                      <a:r>
                        <a:rPr lang="en-IN" sz="1800" b="1" i="0" kern="1200" dirty="0">
                          <a:solidFill>
                            <a:schemeClr val="dk1"/>
                          </a:solidFill>
                          <a:effectLst/>
                          <a:latin typeface="+mn-lt"/>
                          <a:ea typeface="+mn-ea"/>
                          <a:cs typeface="+mn-cs"/>
                        </a:rPr>
                        <a:t>Collaboration</a:t>
                      </a:r>
                      <a:endParaRPr lang="en-IN" dirty="0"/>
                    </a:p>
                  </a:txBody>
                  <a:tcPr/>
                </a:tc>
                <a:tc>
                  <a:txBody>
                    <a:bodyPr/>
                    <a:lstStyle/>
                    <a:p>
                      <a:pPr algn="ctr"/>
                      <a:r>
                        <a:rPr lang="en-IN" sz="1800" b="0" i="0" kern="1200" dirty="0">
                          <a:solidFill>
                            <a:schemeClr val="dk1"/>
                          </a:solidFill>
                          <a:effectLst/>
                          <a:latin typeface="+mn-lt"/>
                          <a:ea typeface="+mn-ea"/>
                          <a:cs typeface="+mn-cs"/>
                        </a:rPr>
                        <a:t>Excellent</a:t>
                      </a:r>
                      <a:endParaRPr lang="en-IN" dirty="0"/>
                    </a:p>
                  </a:txBody>
                  <a:tcPr/>
                </a:tc>
                <a:tc>
                  <a:txBody>
                    <a:bodyPr/>
                    <a:lstStyle/>
                    <a:p>
                      <a:pPr algn="ctr"/>
                      <a:r>
                        <a:rPr lang="en-IN" sz="1800" b="0" i="0" kern="1200" dirty="0">
                          <a:solidFill>
                            <a:schemeClr val="dk1"/>
                          </a:solidFill>
                          <a:effectLst/>
                          <a:latin typeface="+mn-lt"/>
                          <a:ea typeface="+mn-ea"/>
                          <a:cs typeface="+mn-cs"/>
                        </a:rPr>
                        <a:t>Excellent</a:t>
                      </a:r>
                      <a:endParaRPr lang="en-IN" dirty="0"/>
                    </a:p>
                  </a:txBody>
                  <a:tcPr/>
                </a:tc>
                <a:tc>
                  <a:txBody>
                    <a:bodyPr/>
                    <a:lstStyle/>
                    <a:p>
                      <a:pPr algn="ctr"/>
                      <a:r>
                        <a:rPr lang="en-IN" sz="1800" b="0" i="0" kern="1200" dirty="0">
                          <a:solidFill>
                            <a:schemeClr val="dk1"/>
                          </a:solidFill>
                          <a:effectLst/>
                          <a:latin typeface="+mn-lt"/>
                          <a:ea typeface="+mn-ea"/>
                          <a:cs typeface="+mn-cs"/>
                        </a:rPr>
                        <a:t>Good</a:t>
                      </a:r>
                      <a:endParaRPr lang="en-IN" dirty="0"/>
                    </a:p>
                  </a:txBody>
                  <a:tcPr/>
                </a:tc>
                <a:extLst>
                  <a:ext uri="{0D108BD9-81ED-4DB2-BD59-A6C34878D82A}">
                    <a16:rowId xmlns:a16="http://schemas.microsoft.com/office/drawing/2014/main" val="4084510104"/>
                  </a:ext>
                </a:extLst>
              </a:tr>
              <a:tr h="620086">
                <a:tc>
                  <a:txBody>
                    <a:bodyPr/>
                    <a:lstStyle/>
                    <a:p>
                      <a:r>
                        <a:rPr lang="en-IN" sz="1800" b="1" i="0" kern="1200" dirty="0">
                          <a:solidFill>
                            <a:schemeClr val="dk1"/>
                          </a:solidFill>
                          <a:effectLst/>
                          <a:latin typeface="+mn-lt"/>
                          <a:ea typeface="+mn-ea"/>
                          <a:cs typeface="+mn-cs"/>
                        </a:rPr>
                        <a:t>Mobile App</a:t>
                      </a:r>
                      <a:endParaRPr lang="en-IN" dirty="0"/>
                    </a:p>
                  </a:txBody>
                  <a:tcPr/>
                </a:tc>
                <a:tc>
                  <a:txBody>
                    <a:bodyPr/>
                    <a:lstStyle/>
                    <a:p>
                      <a:pPr algn="ctr"/>
                      <a:r>
                        <a:rPr lang="en-IN" sz="1800" b="0" i="0" kern="1200" dirty="0">
                          <a:solidFill>
                            <a:schemeClr val="dk1"/>
                          </a:solidFill>
                          <a:effectLst/>
                          <a:latin typeface="+mn-lt"/>
                          <a:ea typeface="+mn-ea"/>
                          <a:cs typeface="+mn-cs"/>
                        </a:rPr>
                        <a:t>Good</a:t>
                      </a:r>
                      <a:endParaRPr lang="en-IN" dirty="0"/>
                    </a:p>
                  </a:txBody>
                  <a:tcPr/>
                </a:tc>
                <a:tc>
                  <a:txBody>
                    <a:bodyPr/>
                    <a:lstStyle/>
                    <a:p>
                      <a:pPr algn="ctr"/>
                      <a:r>
                        <a:rPr lang="en-IN" sz="1800" b="0" i="0" kern="1200" dirty="0">
                          <a:solidFill>
                            <a:schemeClr val="dk1"/>
                          </a:solidFill>
                          <a:effectLst/>
                          <a:latin typeface="+mn-lt"/>
                          <a:ea typeface="+mn-ea"/>
                          <a:cs typeface="+mn-cs"/>
                        </a:rPr>
                        <a:t>Excellent</a:t>
                      </a:r>
                      <a:endParaRPr lang="en-IN" dirty="0"/>
                    </a:p>
                  </a:txBody>
                  <a:tcPr/>
                </a:tc>
                <a:tc>
                  <a:txBody>
                    <a:bodyPr/>
                    <a:lstStyle/>
                    <a:p>
                      <a:pPr algn="ctr"/>
                      <a:r>
                        <a:rPr lang="en-IN" sz="1800" b="0" i="0" kern="1200" dirty="0">
                          <a:solidFill>
                            <a:schemeClr val="dk1"/>
                          </a:solidFill>
                          <a:effectLst/>
                          <a:latin typeface="+mn-lt"/>
                          <a:ea typeface="+mn-ea"/>
                          <a:cs typeface="+mn-cs"/>
                        </a:rPr>
                        <a:t>Limited</a:t>
                      </a:r>
                      <a:endParaRPr lang="en-IN" dirty="0"/>
                    </a:p>
                  </a:txBody>
                  <a:tcPr/>
                </a:tc>
                <a:extLst>
                  <a:ext uri="{0D108BD9-81ED-4DB2-BD59-A6C34878D82A}">
                    <a16:rowId xmlns:a16="http://schemas.microsoft.com/office/drawing/2014/main" val="3490531139"/>
                  </a:ext>
                </a:extLst>
              </a:tr>
              <a:tr h="620086">
                <a:tc>
                  <a:txBody>
                    <a:bodyPr/>
                    <a:lstStyle/>
                    <a:p>
                      <a:r>
                        <a:rPr lang="en-IN" sz="1800" b="1" i="0" kern="1200" dirty="0">
                          <a:solidFill>
                            <a:schemeClr val="dk1"/>
                          </a:solidFill>
                          <a:effectLst/>
                          <a:latin typeface="+mn-lt"/>
                          <a:ea typeface="+mn-ea"/>
                          <a:cs typeface="+mn-cs"/>
                        </a:rPr>
                        <a:t>Cost (Small Team)</a:t>
                      </a:r>
                      <a:endParaRPr lang="en-IN" dirty="0"/>
                    </a:p>
                  </a:txBody>
                  <a:tcPr/>
                </a:tc>
                <a:tc>
                  <a:txBody>
                    <a:bodyPr/>
                    <a:lstStyle/>
                    <a:p>
                      <a:pPr algn="ctr"/>
                      <a:r>
                        <a:rPr lang="en-IN" dirty="0"/>
                        <a:t>$$</a:t>
                      </a:r>
                    </a:p>
                  </a:txBody>
                  <a:tcPr/>
                </a:tc>
                <a:tc>
                  <a:txBody>
                    <a:bodyPr/>
                    <a:lstStyle/>
                    <a:p>
                      <a:pPr algn="ctr"/>
                      <a:r>
                        <a:rPr lang="en-IN" dirty="0"/>
                        <a:t>$</a:t>
                      </a:r>
                    </a:p>
                  </a:txBody>
                  <a:tcPr/>
                </a:tc>
                <a:tc>
                  <a:txBody>
                    <a:bodyPr/>
                    <a:lstStyle/>
                    <a:p>
                      <a:pPr algn="ctr"/>
                      <a:r>
                        <a:rPr lang="en-IN" dirty="0"/>
                        <a:t>$$$</a:t>
                      </a:r>
                    </a:p>
                  </a:txBody>
                  <a:tcPr/>
                </a:tc>
                <a:extLst>
                  <a:ext uri="{0D108BD9-81ED-4DB2-BD59-A6C34878D82A}">
                    <a16:rowId xmlns:a16="http://schemas.microsoft.com/office/drawing/2014/main" val="254443534"/>
                  </a:ext>
                </a:extLst>
              </a:tr>
            </a:tbl>
          </a:graphicData>
        </a:graphic>
      </p:graphicFrame>
    </p:spTree>
    <p:extLst>
      <p:ext uri="{BB962C8B-B14F-4D97-AF65-F5344CB8AC3E}">
        <p14:creationId xmlns:p14="http://schemas.microsoft.com/office/powerpoint/2010/main" val="3685338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C030-C931-97A4-6FBC-C43452D495E9}"/>
              </a:ext>
            </a:extLst>
          </p:cNvPr>
          <p:cNvSpPr>
            <a:spLocks noGrp="1"/>
          </p:cNvSpPr>
          <p:nvPr>
            <p:ph type="title"/>
          </p:nvPr>
        </p:nvSpPr>
        <p:spPr>
          <a:xfrm>
            <a:off x="838200" y="164403"/>
            <a:ext cx="10515600" cy="1039929"/>
          </a:xfrm>
        </p:spPr>
        <p:txBody>
          <a:bodyPr>
            <a:normAutofit fontScale="90000"/>
          </a:bodyPr>
          <a:lstStyle/>
          <a:p>
            <a:pPr algn="ctr"/>
            <a:r>
              <a:rPr lang="en-IN" b="1" dirty="0"/>
              <a:t>Survey Results &amp; User Satisfaction</a:t>
            </a:r>
            <a:br>
              <a:rPr lang="en-IN" b="1" dirty="0"/>
            </a:br>
            <a:endParaRPr lang="en-IN" dirty="0"/>
          </a:p>
        </p:txBody>
      </p:sp>
      <p:sp>
        <p:nvSpPr>
          <p:cNvPr id="3" name="TextBox 2">
            <a:extLst>
              <a:ext uri="{FF2B5EF4-FFF2-40B4-BE49-F238E27FC236}">
                <a16:creationId xmlns:a16="http://schemas.microsoft.com/office/drawing/2014/main" id="{764FF883-F4AF-4EEA-A8BA-61E17E465C38}"/>
              </a:ext>
            </a:extLst>
          </p:cNvPr>
          <p:cNvSpPr txBox="1"/>
          <p:nvPr/>
        </p:nvSpPr>
        <p:spPr>
          <a:xfrm>
            <a:off x="838200" y="1142330"/>
            <a:ext cx="4826620" cy="369332"/>
          </a:xfrm>
          <a:prstGeom prst="rect">
            <a:avLst/>
          </a:prstGeom>
          <a:noFill/>
        </p:spPr>
        <p:txBody>
          <a:bodyPr wrap="square" rtlCol="0">
            <a:spAutoFit/>
          </a:bodyPr>
          <a:lstStyle/>
          <a:p>
            <a:r>
              <a:rPr lang="en-US" b="1"/>
              <a:t>User Satisfaction Scores (Out of 10)</a:t>
            </a:r>
          </a:p>
        </p:txBody>
      </p:sp>
      <p:sp>
        <p:nvSpPr>
          <p:cNvPr id="4" name="Rectangle: Rounded Corners 3">
            <a:extLst>
              <a:ext uri="{FF2B5EF4-FFF2-40B4-BE49-F238E27FC236}">
                <a16:creationId xmlns:a16="http://schemas.microsoft.com/office/drawing/2014/main" id="{01AC5869-5E7F-1ACA-F91B-6770BA1649A2}"/>
              </a:ext>
            </a:extLst>
          </p:cNvPr>
          <p:cNvSpPr/>
          <p:nvPr/>
        </p:nvSpPr>
        <p:spPr>
          <a:xfrm>
            <a:off x="1739858" y="1862454"/>
            <a:ext cx="3243943" cy="190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bg1"/>
                </a:solidFill>
              </a:rPr>
              <a:t>JIRA Overall Rating  </a:t>
            </a:r>
          </a:p>
        </p:txBody>
      </p:sp>
      <p:sp>
        <p:nvSpPr>
          <p:cNvPr id="5" name="Rectangle: Rounded Corners 4">
            <a:extLst>
              <a:ext uri="{FF2B5EF4-FFF2-40B4-BE49-F238E27FC236}">
                <a16:creationId xmlns:a16="http://schemas.microsoft.com/office/drawing/2014/main" id="{3D026AB3-0AEA-C037-489B-E4744A2103A8}"/>
              </a:ext>
            </a:extLst>
          </p:cNvPr>
          <p:cNvSpPr/>
          <p:nvPr/>
        </p:nvSpPr>
        <p:spPr>
          <a:xfrm>
            <a:off x="1739857" y="4289968"/>
            <a:ext cx="3243943" cy="190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bg1"/>
                </a:solidFill>
              </a:rPr>
              <a:t>Trello Overall Rating  </a:t>
            </a:r>
          </a:p>
        </p:txBody>
      </p:sp>
      <p:sp>
        <p:nvSpPr>
          <p:cNvPr id="6" name="Rectangle: Rounded Corners 5">
            <a:extLst>
              <a:ext uri="{FF2B5EF4-FFF2-40B4-BE49-F238E27FC236}">
                <a16:creationId xmlns:a16="http://schemas.microsoft.com/office/drawing/2014/main" id="{423BE0F0-788B-C005-A88A-896A6D73A0D5}"/>
              </a:ext>
            </a:extLst>
          </p:cNvPr>
          <p:cNvSpPr/>
          <p:nvPr/>
        </p:nvSpPr>
        <p:spPr>
          <a:xfrm>
            <a:off x="6892515" y="1911731"/>
            <a:ext cx="3243943" cy="190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dirty="0">
              <a:solidFill>
                <a:schemeClr val="bg1"/>
              </a:solidFill>
            </a:endParaRPr>
          </a:p>
          <a:p>
            <a:pPr algn="ctr"/>
            <a:r>
              <a:rPr lang="en-IN" sz="2000" dirty="0">
                <a:solidFill>
                  <a:schemeClr val="bg1"/>
                </a:solidFill>
              </a:rPr>
              <a:t>MS Project Overall Rating  </a:t>
            </a:r>
          </a:p>
          <a:p>
            <a:pPr algn="ctr"/>
            <a:endParaRPr lang="en-IN" sz="2000" dirty="0">
              <a:solidFill>
                <a:schemeClr val="bg1"/>
              </a:solidFill>
            </a:endParaRPr>
          </a:p>
        </p:txBody>
      </p:sp>
      <p:sp>
        <p:nvSpPr>
          <p:cNvPr id="7" name="TextBox 6">
            <a:extLst>
              <a:ext uri="{FF2B5EF4-FFF2-40B4-BE49-F238E27FC236}">
                <a16:creationId xmlns:a16="http://schemas.microsoft.com/office/drawing/2014/main" id="{84161745-4B2A-C463-1AD9-FECD20FA9FA4}"/>
              </a:ext>
            </a:extLst>
          </p:cNvPr>
          <p:cNvSpPr txBox="1"/>
          <p:nvPr/>
        </p:nvSpPr>
        <p:spPr>
          <a:xfrm>
            <a:off x="3055168" y="2182259"/>
            <a:ext cx="869795" cy="523220"/>
          </a:xfrm>
          <a:prstGeom prst="rect">
            <a:avLst/>
          </a:prstGeom>
          <a:noFill/>
        </p:spPr>
        <p:txBody>
          <a:bodyPr wrap="square" rtlCol="0">
            <a:spAutoFit/>
          </a:bodyPr>
          <a:lstStyle/>
          <a:p>
            <a:pPr algn="ctr"/>
            <a:r>
              <a:rPr lang="en-IN" sz="2800" b="1" dirty="0">
                <a:solidFill>
                  <a:schemeClr val="bg1"/>
                </a:solidFill>
              </a:rPr>
              <a:t>8.2</a:t>
            </a:r>
            <a:endParaRPr lang="en-IN" sz="2800" dirty="0">
              <a:solidFill>
                <a:schemeClr val="bg1"/>
              </a:solidFill>
            </a:endParaRPr>
          </a:p>
        </p:txBody>
      </p:sp>
      <p:sp>
        <p:nvSpPr>
          <p:cNvPr id="8" name="TextBox 7">
            <a:extLst>
              <a:ext uri="{FF2B5EF4-FFF2-40B4-BE49-F238E27FC236}">
                <a16:creationId xmlns:a16="http://schemas.microsoft.com/office/drawing/2014/main" id="{CB8E2160-738D-C557-7AE5-E80DC029C4BE}"/>
              </a:ext>
            </a:extLst>
          </p:cNvPr>
          <p:cNvSpPr txBox="1"/>
          <p:nvPr/>
        </p:nvSpPr>
        <p:spPr>
          <a:xfrm>
            <a:off x="5456132" y="2291734"/>
            <a:ext cx="869795" cy="523220"/>
          </a:xfrm>
          <a:prstGeom prst="rect">
            <a:avLst/>
          </a:prstGeom>
          <a:noFill/>
        </p:spPr>
        <p:txBody>
          <a:bodyPr wrap="square" rtlCol="0">
            <a:spAutoFit/>
          </a:bodyPr>
          <a:lstStyle/>
          <a:p>
            <a:pPr algn="ctr"/>
            <a:r>
              <a:rPr lang="en-IN" sz="2800" b="1" dirty="0">
                <a:solidFill>
                  <a:schemeClr val="bg1"/>
                </a:solidFill>
              </a:rPr>
              <a:t>8.7</a:t>
            </a:r>
            <a:endParaRPr lang="en-IN" sz="2800" dirty="0">
              <a:solidFill>
                <a:schemeClr val="bg1"/>
              </a:solidFill>
            </a:endParaRPr>
          </a:p>
        </p:txBody>
      </p:sp>
      <p:sp>
        <p:nvSpPr>
          <p:cNvPr id="10" name="TextBox 9">
            <a:extLst>
              <a:ext uri="{FF2B5EF4-FFF2-40B4-BE49-F238E27FC236}">
                <a16:creationId xmlns:a16="http://schemas.microsoft.com/office/drawing/2014/main" id="{58BC0522-B03F-4A76-9E76-482A2438211C}"/>
              </a:ext>
            </a:extLst>
          </p:cNvPr>
          <p:cNvSpPr txBox="1"/>
          <p:nvPr/>
        </p:nvSpPr>
        <p:spPr>
          <a:xfrm>
            <a:off x="2870114" y="4582850"/>
            <a:ext cx="983432" cy="523220"/>
          </a:xfrm>
          <a:prstGeom prst="rect">
            <a:avLst/>
          </a:prstGeom>
          <a:noFill/>
        </p:spPr>
        <p:txBody>
          <a:bodyPr wrap="square" rtlCol="0">
            <a:spAutoFit/>
          </a:bodyPr>
          <a:lstStyle/>
          <a:p>
            <a:pPr algn="ctr"/>
            <a:r>
              <a:rPr lang="en-IN" sz="2800" b="1" dirty="0">
                <a:solidFill>
                  <a:schemeClr val="bg1"/>
                </a:solidFill>
              </a:rPr>
              <a:t>8.7</a:t>
            </a:r>
            <a:endParaRPr lang="en-IN" sz="2800" dirty="0">
              <a:solidFill>
                <a:schemeClr val="bg1"/>
              </a:solidFill>
            </a:endParaRPr>
          </a:p>
        </p:txBody>
      </p:sp>
      <p:sp>
        <p:nvSpPr>
          <p:cNvPr id="13" name="TextBox 12">
            <a:extLst>
              <a:ext uri="{FF2B5EF4-FFF2-40B4-BE49-F238E27FC236}">
                <a16:creationId xmlns:a16="http://schemas.microsoft.com/office/drawing/2014/main" id="{B6DB2DEA-9D03-97D4-28C4-22B273CCA339}"/>
              </a:ext>
            </a:extLst>
          </p:cNvPr>
          <p:cNvSpPr txBox="1"/>
          <p:nvPr/>
        </p:nvSpPr>
        <p:spPr>
          <a:xfrm>
            <a:off x="8338457" y="2182259"/>
            <a:ext cx="1230086" cy="523220"/>
          </a:xfrm>
          <a:prstGeom prst="rect">
            <a:avLst/>
          </a:prstGeom>
          <a:noFill/>
        </p:spPr>
        <p:txBody>
          <a:bodyPr wrap="square" rtlCol="0">
            <a:spAutoFit/>
          </a:bodyPr>
          <a:lstStyle/>
          <a:p>
            <a:pPr algn="ctr"/>
            <a:r>
              <a:rPr lang="en-US" sz="2800" b="1" dirty="0">
                <a:solidFill>
                  <a:schemeClr val="bg1"/>
                </a:solidFill>
              </a:rPr>
              <a:t>7.5</a:t>
            </a:r>
            <a:endParaRPr lang="en-IN" sz="2800" b="1" dirty="0">
              <a:solidFill>
                <a:schemeClr val="bg1"/>
              </a:solidFill>
            </a:endParaRPr>
          </a:p>
        </p:txBody>
      </p:sp>
      <p:sp>
        <p:nvSpPr>
          <p:cNvPr id="14" name="Rectangle: Rounded Corners 13">
            <a:extLst>
              <a:ext uri="{FF2B5EF4-FFF2-40B4-BE49-F238E27FC236}">
                <a16:creationId xmlns:a16="http://schemas.microsoft.com/office/drawing/2014/main" id="{D65B1CC4-F5C6-00E4-6925-BCA560D6A2CB}"/>
              </a:ext>
            </a:extLst>
          </p:cNvPr>
          <p:cNvSpPr/>
          <p:nvPr/>
        </p:nvSpPr>
        <p:spPr>
          <a:xfrm>
            <a:off x="6979601" y="4289968"/>
            <a:ext cx="3243943" cy="190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Survey </a:t>
            </a:r>
            <a:r>
              <a:rPr lang="en-IN" sz="2000" dirty="0">
                <a:solidFill>
                  <a:schemeClr val="bg1"/>
                </a:solidFill>
              </a:rPr>
              <a:t>Respondents</a:t>
            </a:r>
          </a:p>
        </p:txBody>
      </p:sp>
      <p:sp>
        <p:nvSpPr>
          <p:cNvPr id="15" name="TextBox 14">
            <a:extLst>
              <a:ext uri="{FF2B5EF4-FFF2-40B4-BE49-F238E27FC236}">
                <a16:creationId xmlns:a16="http://schemas.microsoft.com/office/drawing/2014/main" id="{3A05CC25-3F77-CA1D-AED7-B2ECC505F1CA}"/>
              </a:ext>
            </a:extLst>
          </p:cNvPr>
          <p:cNvSpPr txBox="1"/>
          <p:nvPr/>
        </p:nvSpPr>
        <p:spPr>
          <a:xfrm>
            <a:off x="8024629" y="4582850"/>
            <a:ext cx="1153886" cy="523220"/>
          </a:xfrm>
          <a:prstGeom prst="rect">
            <a:avLst/>
          </a:prstGeom>
          <a:noFill/>
        </p:spPr>
        <p:txBody>
          <a:bodyPr wrap="square" rtlCol="0">
            <a:spAutoFit/>
          </a:bodyPr>
          <a:lstStyle/>
          <a:p>
            <a:pPr algn="ctr"/>
            <a:r>
              <a:rPr lang="en-US" sz="2800" b="1" dirty="0">
                <a:solidFill>
                  <a:schemeClr val="bg1"/>
                </a:solidFill>
              </a:rPr>
              <a:t>125</a:t>
            </a:r>
            <a:endParaRPr lang="en-IN" sz="2800" b="1" dirty="0">
              <a:solidFill>
                <a:schemeClr val="bg1"/>
              </a:solidFill>
            </a:endParaRPr>
          </a:p>
        </p:txBody>
      </p:sp>
    </p:spTree>
    <p:extLst>
      <p:ext uri="{BB962C8B-B14F-4D97-AF65-F5344CB8AC3E}">
        <p14:creationId xmlns:p14="http://schemas.microsoft.com/office/powerpoint/2010/main" val="3619286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8B3A-0F61-E885-B5E4-5AF3D4F0AC09}"/>
              </a:ext>
            </a:extLst>
          </p:cNvPr>
          <p:cNvSpPr>
            <a:spLocks noGrp="1"/>
          </p:cNvSpPr>
          <p:nvPr>
            <p:ph type="title"/>
          </p:nvPr>
        </p:nvSpPr>
        <p:spPr/>
        <p:txBody>
          <a:bodyPr/>
          <a:lstStyle/>
          <a:p>
            <a:pPr algn="ctr"/>
            <a:r>
              <a:rPr lang="en-IN" b="1" dirty="0"/>
              <a:t>Key Survey Insights</a:t>
            </a:r>
            <a:br>
              <a:rPr lang="en-IN" b="1" dirty="0"/>
            </a:br>
            <a:endParaRPr lang="en-IN" dirty="0"/>
          </a:p>
        </p:txBody>
      </p:sp>
      <p:sp>
        <p:nvSpPr>
          <p:cNvPr id="3" name="Content Placeholder 2">
            <a:extLst>
              <a:ext uri="{FF2B5EF4-FFF2-40B4-BE49-F238E27FC236}">
                <a16:creationId xmlns:a16="http://schemas.microsoft.com/office/drawing/2014/main" id="{64288739-4833-D338-A61B-2FFF7A02E86D}"/>
              </a:ext>
            </a:extLst>
          </p:cNvPr>
          <p:cNvSpPr>
            <a:spLocks noGrp="1"/>
          </p:cNvSpPr>
          <p:nvPr>
            <p:ph idx="1"/>
          </p:nvPr>
        </p:nvSpPr>
        <p:spPr>
          <a:xfrm>
            <a:off x="838200" y="1426029"/>
            <a:ext cx="10515600" cy="4750934"/>
          </a:xfrm>
        </p:spPr>
        <p:txBody>
          <a:bodyPr>
            <a:normAutofit lnSpcReduction="10000"/>
          </a:bodyPr>
          <a:lstStyle/>
          <a:p>
            <a:r>
              <a:rPr lang="en-US" b="1" dirty="0"/>
              <a:t>Ease of Adoption:</a:t>
            </a:r>
            <a:r>
              <a:rPr lang="en-US" dirty="0"/>
              <a:t> Trello rated highest (9.1/10), JIRA lowest (6.8/10)</a:t>
            </a:r>
          </a:p>
          <a:p>
            <a:pPr marL="0" indent="0">
              <a:buNone/>
            </a:pPr>
            <a:endParaRPr lang="en-US" dirty="0"/>
          </a:p>
          <a:p>
            <a:r>
              <a:rPr lang="en-US" b="1" dirty="0"/>
              <a:t>Feature Completeness:</a:t>
            </a:r>
            <a:r>
              <a:rPr lang="en-US" dirty="0"/>
              <a:t> JIRA and MS Project tied (8.5/10)</a:t>
            </a:r>
          </a:p>
          <a:p>
            <a:pPr marL="0" indent="0">
              <a:buNone/>
            </a:pPr>
            <a:endParaRPr lang="en-US" dirty="0"/>
          </a:p>
          <a:p>
            <a:r>
              <a:rPr lang="en-US" b="1" dirty="0"/>
              <a:t>Value for Money:</a:t>
            </a:r>
            <a:r>
              <a:rPr lang="en-US" dirty="0"/>
              <a:t> Trello leads (8.9/10), MS Project trails (7.2/10)</a:t>
            </a:r>
          </a:p>
          <a:p>
            <a:pPr marL="0" indent="0">
              <a:buNone/>
            </a:pPr>
            <a:endParaRPr lang="en-US" dirty="0"/>
          </a:p>
          <a:p>
            <a:r>
              <a:rPr lang="en-US" b="1" dirty="0"/>
              <a:t>Customer Support:</a:t>
            </a:r>
            <a:r>
              <a:rPr lang="en-US" dirty="0"/>
              <a:t> MS Project leads (8.4/10) due to enterprise support</a:t>
            </a:r>
          </a:p>
          <a:p>
            <a:pPr marL="0" indent="0">
              <a:buNone/>
            </a:pPr>
            <a:endParaRPr lang="en-US" dirty="0"/>
          </a:p>
          <a:p>
            <a:r>
              <a:rPr lang="en-US" b="1" dirty="0"/>
              <a:t>Would Recommend:</a:t>
            </a:r>
            <a:r>
              <a:rPr lang="en-US" dirty="0"/>
              <a:t> 89% for Trello, 82% for JIRA, 71% for MS Project</a:t>
            </a:r>
          </a:p>
          <a:p>
            <a:pPr marL="0" indent="0">
              <a:buNone/>
            </a:pPr>
            <a:endParaRPr lang="en-IN" dirty="0"/>
          </a:p>
        </p:txBody>
      </p:sp>
    </p:spTree>
    <p:extLst>
      <p:ext uri="{BB962C8B-B14F-4D97-AF65-F5344CB8AC3E}">
        <p14:creationId xmlns:p14="http://schemas.microsoft.com/office/powerpoint/2010/main" val="1124294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77702-21E3-DF41-B23B-28B6C550DDE5}"/>
              </a:ext>
            </a:extLst>
          </p:cNvPr>
          <p:cNvSpPr>
            <a:spLocks noGrp="1"/>
          </p:cNvSpPr>
          <p:nvPr>
            <p:ph type="title"/>
          </p:nvPr>
        </p:nvSpPr>
        <p:spPr>
          <a:xfrm>
            <a:off x="838200" y="1"/>
            <a:ext cx="10515600" cy="1066799"/>
          </a:xfrm>
        </p:spPr>
        <p:txBody>
          <a:bodyPr/>
          <a:lstStyle/>
          <a:p>
            <a:pPr algn="ctr"/>
            <a:r>
              <a:rPr lang="en-IN" sz="4000" b="1" dirty="0"/>
              <a:t>TOOL SELECTION FRAMEWORK</a:t>
            </a:r>
          </a:p>
        </p:txBody>
      </p:sp>
      <p:graphicFrame>
        <p:nvGraphicFramePr>
          <p:cNvPr id="4" name="Table 3">
            <a:extLst>
              <a:ext uri="{FF2B5EF4-FFF2-40B4-BE49-F238E27FC236}">
                <a16:creationId xmlns:a16="http://schemas.microsoft.com/office/drawing/2014/main" id="{11743E60-7539-B3E5-19AD-B260966328BD}"/>
              </a:ext>
            </a:extLst>
          </p:cNvPr>
          <p:cNvGraphicFramePr>
            <a:graphicFrameLocks noGrp="1"/>
          </p:cNvGraphicFramePr>
          <p:nvPr>
            <p:extLst>
              <p:ext uri="{D42A27DB-BD31-4B8C-83A1-F6EECF244321}">
                <p14:modId xmlns:p14="http://schemas.microsoft.com/office/powerpoint/2010/main" val="739373840"/>
              </p:ext>
            </p:extLst>
          </p:nvPr>
        </p:nvGraphicFramePr>
        <p:xfrm>
          <a:off x="620486" y="1338943"/>
          <a:ext cx="11005458" cy="5045528"/>
        </p:xfrm>
        <a:graphic>
          <a:graphicData uri="http://schemas.openxmlformats.org/drawingml/2006/table">
            <a:tbl>
              <a:tblPr firstRow="1" bandRow="1">
                <a:tableStyleId>{5C22544A-7EE6-4342-B048-85BDC9FD1C3A}</a:tableStyleId>
              </a:tblPr>
              <a:tblGrid>
                <a:gridCol w="3668486">
                  <a:extLst>
                    <a:ext uri="{9D8B030D-6E8A-4147-A177-3AD203B41FA5}">
                      <a16:colId xmlns:a16="http://schemas.microsoft.com/office/drawing/2014/main" val="2056780499"/>
                    </a:ext>
                  </a:extLst>
                </a:gridCol>
                <a:gridCol w="3668486">
                  <a:extLst>
                    <a:ext uri="{9D8B030D-6E8A-4147-A177-3AD203B41FA5}">
                      <a16:colId xmlns:a16="http://schemas.microsoft.com/office/drawing/2014/main" val="1742803803"/>
                    </a:ext>
                  </a:extLst>
                </a:gridCol>
                <a:gridCol w="3668486">
                  <a:extLst>
                    <a:ext uri="{9D8B030D-6E8A-4147-A177-3AD203B41FA5}">
                      <a16:colId xmlns:a16="http://schemas.microsoft.com/office/drawing/2014/main" val="1199640730"/>
                    </a:ext>
                  </a:extLst>
                </a:gridCol>
              </a:tblGrid>
              <a:tr h="865414">
                <a:tc>
                  <a:txBody>
                    <a:bodyPr/>
                    <a:lstStyle/>
                    <a:p>
                      <a:pPr algn="ctr"/>
                      <a:r>
                        <a:rPr lang="en-IN" sz="2800" b="1" i="0" kern="1200" dirty="0">
                          <a:solidFill>
                            <a:schemeClr val="lt1"/>
                          </a:solidFill>
                          <a:effectLst/>
                          <a:latin typeface="+mn-lt"/>
                          <a:ea typeface="+mn-ea"/>
                          <a:cs typeface="+mn-cs"/>
                        </a:rPr>
                        <a:t>Scenario</a:t>
                      </a:r>
                      <a:endParaRPr lang="en-IN" sz="2800" dirty="0"/>
                    </a:p>
                  </a:txBody>
                  <a:tcPr/>
                </a:tc>
                <a:tc>
                  <a:txBody>
                    <a:bodyPr/>
                    <a:lstStyle/>
                    <a:p>
                      <a:pPr algn="ctr"/>
                      <a:r>
                        <a:rPr lang="en-IN" sz="2800" b="1" i="0" kern="1200" dirty="0">
                          <a:solidFill>
                            <a:schemeClr val="lt1"/>
                          </a:solidFill>
                          <a:effectLst/>
                          <a:latin typeface="+mn-lt"/>
                          <a:ea typeface="+mn-ea"/>
                          <a:cs typeface="+mn-cs"/>
                        </a:rPr>
                        <a:t>Recommended Tool</a:t>
                      </a:r>
                    </a:p>
                  </a:txBody>
                  <a:tcPr/>
                </a:tc>
                <a:tc>
                  <a:txBody>
                    <a:bodyPr/>
                    <a:lstStyle/>
                    <a:p>
                      <a:pPr algn="ctr"/>
                      <a:r>
                        <a:rPr lang="en-IN" sz="2800" b="1" i="0" kern="1200" dirty="0">
                          <a:solidFill>
                            <a:schemeClr val="lt1"/>
                          </a:solidFill>
                          <a:effectLst/>
                          <a:latin typeface="+mn-lt"/>
                          <a:ea typeface="+mn-ea"/>
                          <a:cs typeface="+mn-cs"/>
                        </a:rPr>
                        <a:t>Rationale</a:t>
                      </a:r>
                    </a:p>
                  </a:txBody>
                  <a:tcPr/>
                </a:tc>
                <a:extLst>
                  <a:ext uri="{0D108BD9-81ED-4DB2-BD59-A6C34878D82A}">
                    <a16:rowId xmlns:a16="http://schemas.microsoft.com/office/drawing/2014/main" val="3868042591"/>
                  </a:ext>
                </a:extLst>
              </a:tr>
              <a:tr h="865414">
                <a:tc>
                  <a:txBody>
                    <a:bodyPr/>
                    <a:lstStyle/>
                    <a:p>
                      <a:r>
                        <a:rPr lang="en-IN" dirty="0"/>
                        <a:t>Software Development (Agile)</a:t>
                      </a:r>
                    </a:p>
                  </a:txBody>
                  <a:tcPr/>
                </a:tc>
                <a:tc>
                  <a:txBody>
                    <a:bodyPr/>
                    <a:lstStyle/>
                    <a:p>
                      <a:pPr algn="ctr"/>
                      <a:r>
                        <a:rPr lang="en-IN" dirty="0"/>
                        <a:t>JIRA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Best agile support, sprint planning, and developer-specific features</a:t>
                      </a:r>
                    </a:p>
                    <a:p>
                      <a:endParaRPr lang="en-IN" dirty="0"/>
                    </a:p>
                  </a:txBody>
                  <a:tcPr/>
                </a:tc>
                <a:extLst>
                  <a:ext uri="{0D108BD9-81ED-4DB2-BD59-A6C34878D82A}">
                    <a16:rowId xmlns:a16="http://schemas.microsoft.com/office/drawing/2014/main" val="3380319424"/>
                  </a:ext>
                </a:extLst>
              </a:tr>
              <a:tr h="865414">
                <a:tc>
                  <a:txBody>
                    <a:bodyPr/>
                    <a:lstStyle/>
                    <a:p>
                      <a:r>
                        <a:rPr lang="en-IN" dirty="0"/>
                        <a:t>Startup/Fast-Moving Team</a:t>
                      </a:r>
                    </a:p>
                  </a:txBody>
                  <a:tcPr/>
                </a:tc>
                <a:tc>
                  <a:txBody>
                    <a:bodyPr/>
                    <a:lstStyle/>
                    <a:p>
                      <a:pPr algn="ctr"/>
                      <a:r>
                        <a:rPr lang="en-IN" dirty="0"/>
                        <a:t>Trello</a:t>
                      </a:r>
                    </a:p>
                  </a:txBody>
                  <a:tcPr/>
                </a:tc>
                <a:tc>
                  <a:txBody>
                    <a:bodyPr/>
                    <a:lstStyle/>
                    <a:p>
                      <a:r>
                        <a:rPr lang="en-US" dirty="0"/>
                        <a:t>Quick setup, flexible, low learning curve</a:t>
                      </a:r>
                      <a:endParaRPr lang="en-IN" dirty="0"/>
                    </a:p>
                  </a:txBody>
                  <a:tcPr/>
                </a:tc>
                <a:extLst>
                  <a:ext uri="{0D108BD9-81ED-4DB2-BD59-A6C34878D82A}">
                    <a16:rowId xmlns:a16="http://schemas.microsoft.com/office/drawing/2014/main" val="814172772"/>
                  </a:ext>
                </a:extLst>
              </a:tr>
              <a:tr h="822779">
                <a:tc>
                  <a:txBody>
                    <a:bodyPr/>
                    <a:lstStyle/>
                    <a:p>
                      <a:r>
                        <a:rPr lang="en-IN" dirty="0"/>
                        <a:t>IT Service Management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JIRA</a:t>
                      </a:r>
                    </a:p>
                    <a:p>
                      <a:pPr>
                        <a:buNone/>
                      </a:pPr>
                      <a:endParaRPr lang="en-IN" dirty="0"/>
                    </a:p>
                  </a:txBody>
                  <a:tcPr anchor="ctr"/>
                </a:tc>
                <a:tc>
                  <a:txBody>
                    <a:bodyPr/>
                    <a:lstStyle/>
                    <a:p>
                      <a:pPr>
                        <a:buNone/>
                      </a:pPr>
                      <a:r>
                        <a:rPr lang="en-US" dirty="0"/>
                        <a:t>Incident tracking, SLA management, workflow automation</a:t>
                      </a:r>
                      <a:endParaRPr lang="en-IN" dirty="0"/>
                    </a:p>
                  </a:txBody>
                  <a:tcPr anchor="ctr"/>
                </a:tc>
                <a:extLst>
                  <a:ext uri="{0D108BD9-81ED-4DB2-BD59-A6C34878D82A}">
                    <a16:rowId xmlns:a16="http://schemas.microsoft.com/office/drawing/2014/main" val="3589086250"/>
                  </a:ext>
                </a:extLst>
              </a:tr>
              <a:tr h="712107">
                <a:tc>
                  <a:txBody>
                    <a:bodyPr/>
                    <a:lstStyle/>
                    <a:p>
                      <a:r>
                        <a:rPr lang="en-IN" dirty="0"/>
                        <a:t>Hybrid Project (Agile + Waterfall)</a:t>
                      </a:r>
                    </a:p>
                  </a:txBody>
                  <a:tcPr/>
                </a:tc>
                <a:tc>
                  <a:txBody>
                    <a:bodyPr/>
                    <a:lstStyle/>
                    <a:p>
                      <a:endParaRPr lang="en-US" dirty="0"/>
                    </a:p>
                    <a:p>
                      <a:pPr algn="ctr"/>
                      <a:r>
                        <a:rPr lang="en-IN" dirty="0"/>
                        <a:t>JIRA</a:t>
                      </a:r>
                    </a:p>
                  </a:txBody>
                  <a:tcPr/>
                </a:tc>
                <a:tc>
                  <a:txBody>
                    <a:bodyPr/>
                    <a:lstStyle/>
                    <a:p>
                      <a:r>
                        <a:rPr lang="en-US" dirty="0"/>
                        <a:t>Flexible methodology support</a:t>
                      </a:r>
                    </a:p>
                    <a:p>
                      <a:r>
                        <a:rPr lang="en-IN" dirty="0"/>
                        <a:t> </a:t>
                      </a:r>
                    </a:p>
                  </a:txBody>
                  <a:tcPr/>
                </a:tc>
                <a:extLst>
                  <a:ext uri="{0D108BD9-81ED-4DB2-BD59-A6C34878D82A}">
                    <a16:rowId xmlns:a16="http://schemas.microsoft.com/office/drawing/2014/main" val="2266202201"/>
                  </a:ext>
                </a:extLst>
              </a:tr>
              <a:tr h="865414">
                <a:tc>
                  <a:txBody>
                    <a:bodyPr/>
                    <a:lstStyle/>
                    <a:p>
                      <a:r>
                        <a:rPr lang="en-IN" dirty="0"/>
                        <a:t>Multi-Project Portfolio</a:t>
                      </a:r>
                    </a:p>
                  </a:txBody>
                  <a:tcPr/>
                </a:tc>
                <a:tc>
                  <a:txBody>
                    <a:bodyPr/>
                    <a:lstStyle/>
                    <a:p>
                      <a:pPr algn="ctr">
                        <a:buNone/>
                      </a:pPr>
                      <a:r>
                        <a:rPr lang="en-IN" dirty="0"/>
                        <a:t>MS Project</a:t>
                      </a:r>
                    </a:p>
                  </a:txBody>
                  <a:tcPr anchor="ctr"/>
                </a:tc>
                <a:tc>
                  <a:txBody>
                    <a:bodyPr/>
                    <a:lstStyle/>
                    <a:p>
                      <a:pPr>
                        <a:buNone/>
                      </a:pPr>
                      <a:r>
                        <a:rPr lang="en-US" dirty="0"/>
                        <a:t>Portfolio view, resource sharing across projects</a:t>
                      </a:r>
                      <a:endParaRPr lang="en-IN" dirty="0"/>
                    </a:p>
                  </a:txBody>
                  <a:tcPr anchor="ctr"/>
                </a:tc>
                <a:extLst>
                  <a:ext uri="{0D108BD9-81ED-4DB2-BD59-A6C34878D82A}">
                    <a16:rowId xmlns:a16="http://schemas.microsoft.com/office/drawing/2014/main" val="1625843071"/>
                  </a:ext>
                </a:extLst>
              </a:tr>
            </a:tbl>
          </a:graphicData>
        </a:graphic>
      </p:graphicFrame>
      <p:sp>
        <p:nvSpPr>
          <p:cNvPr id="5" name="TextBox 4">
            <a:extLst>
              <a:ext uri="{FF2B5EF4-FFF2-40B4-BE49-F238E27FC236}">
                <a16:creationId xmlns:a16="http://schemas.microsoft.com/office/drawing/2014/main" id="{DE4606DA-EF5E-79CA-9C19-899BE32CB7FA}"/>
              </a:ext>
            </a:extLst>
          </p:cNvPr>
          <p:cNvSpPr txBox="1"/>
          <p:nvPr/>
        </p:nvSpPr>
        <p:spPr>
          <a:xfrm>
            <a:off x="1092490" y="857835"/>
            <a:ext cx="2144486" cy="757130"/>
          </a:xfrm>
          <a:prstGeom prst="rect">
            <a:avLst/>
          </a:prstGeom>
          <a:noFill/>
        </p:spPr>
        <p:txBody>
          <a:bodyPr wrap="square" rtlCol="0">
            <a:spAutoFit/>
          </a:bodyPr>
          <a:lstStyle/>
          <a:p>
            <a:pPr algn="ctr">
              <a:lnSpc>
                <a:spcPct val="90000"/>
              </a:lnSpc>
              <a:spcBef>
                <a:spcPct val="0"/>
              </a:spcBef>
            </a:pPr>
            <a:r>
              <a:rPr lang="en-IN" sz="2400" b="1" dirty="0">
                <a:latin typeface="+mj-lt"/>
                <a:ea typeface="+mj-ea"/>
                <a:cs typeface="+mj-cs"/>
              </a:rPr>
              <a:t>Decision Matrix</a:t>
            </a:r>
          </a:p>
          <a:p>
            <a:pPr algn="ctr">
              <a:lnSpc>
                <a:spcPct val="90000"/>
              </a:lnSpc>
              <a:spcBef>
                <a:spcPct val="0"/>
              </a:spcBef>
            </a:pPr>
            <a:endParaRPr lang="en-IN" sz="2400" b="1" dirty="0">
              <a:latin typeface="+mj-lt"/>
              <a:ea typeface="+mj-ea"/>
              <a:cs typeface="+mj-cs"/>
            </a:endParaRPr>
          </a:p>
        </p:txBody>
      </p:sp>
    </p:spTree>
    <p:extLst>
      <p:ext uri="{BB962C8B-B14F-4D97-AF65-F5344CB8AC3E}">
        <p14:creationId xmlns:p14="http://schemas.microsoft.com/office/powerpoint/2010/main" val="1932634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EECC0-4481-200C-7DDA-9C6412A9A288}"/>
              </a:ext>
            </a:extLst>
          </p:cNvPr>
          <p:cNvSpPr>
            <a:spLocks noGrp="1"/>
          </p:cNvSpPr>
          <p:nvPr>
            <p:ph type="title"/>
          </p:nvPr>
        </p:nvSpPr>
        <p:spPr>
          <a:xfrm>
            <a:off x="838200" y="128017"/>
            <a:ext cx="10515600" cy="777239"/>
          </a:xfrm>
        </p:spPr>
        <p:txBody>
          <a:bodyPr>
            <a:normAutofit fontScale="90000"/>
          </a:bodyPr>
          <a:lstStyle/>
          <a:p>
            <a:pPr algn="ctr"/>
            <a:r>
              <a:rPr lang="en-IN" b="1" dirty="0"/>
              <a:t>Recommendations</a:t>
            </a:r>
            <a:br>
              <a:rPr lang="en-IN" b="1" dirty="0"/>
            </a:br>
            <a:endParaRPr lang="en-IN" dirty="0"/>
          </a:p>
        </p:txBody>
      </p:sp>
      <p:sp>
        <p:nvSpPr>
          <p:cNvPr id="3" name="Content Placeholder 2">
            <a:extLst>
              <a:ext uri="{FF2B5EF4-FFF2-40B4-BE49-F238E27FC236}">
                <a16:creationId xmlns:a16="http://schemas.microsoft.com/office/drawing/2014/main" id="{4897E0B1-586E-A06A-7972-5A989B924419}"/>
              </a:ext>
            </a:extLst>
          </p:cNvPr>
          <p:cNvSpPr>
            <a:spLocks noGrp="1"/>
          </p:cNvSpPr>
          <p:nvPr>
            <p:ph idx="1"/>
          </p:nvPr>
        </p:nvSpPr>
        <p:spPr>
          <a:xfrm>
            <a:off x="838200" y="905257"/>
            <a:ext cx="10515600" cy="5413248"/>
          </a:xfrm>
        </p:spPr>
        <p:txBody>
          <a:bodyPr>
            <a:normAutofit/>
          </a:bodyPr>
          <a:lstStyle/>
          <a:p>
            <a:pPr marL="0" indent="0">
              <a:buNone/>
            </a:pPr>
            <a:r>
              <a:rPr lang="en-US" sz="2600" b="1" dirty="0"/>
              <a:t>For Organizations Selecting a PM Tool</a:t>
            </a:r>
          </a:p>
          <a:p>
            <a:pPr marL="514350" indent="-514350">
              <a:buFont typeface="+mj-lt"/>
              <a:buAutoNum type="arabicPeriod"/>
            </a:pPr>
            <a:r>
              <a:rPr lang="en-US" sz="2600" b="1" dirty="0"/>
              <a:t>Assess Current Needs:</a:t>
            </a:r>
            <a:r>
              <a:rPr lang="en-US" sz="2600" dirty="0"/>
              <a:t> Evaluate team size, project complexity, and methodology (Agile vs. Traditional)</a:t>
            </a:r>
          </a:p>
          <a:p>
            <a:pPr marL="514350" indent="-514350">
              <a:buFont typeface="+mj-lt"/>
              <a:buAutoNum type="arabicPeriod"/>
            </a:pPr>
            <a:endParaRPr lang="en-US" sz="2600" dirty="0"/>
          </a:p>
          <a:p>
            <a:pPr marL="514350" indent="-514350">
              <a:buFont typeface="+mj-lt"/>
              <a:buAutoNum type="arabicPeriod"/>
            </a:pPr>
            <a:r>
              <a:rPr lang="en-US" sz="2600" b="1" dirty="0"/>
              <a:t>Consider Growth:</a:t>
            </a:r>
            <a:r>
              <a:rPr lang="en-US" sz="2600" dirty="0"/>
              <a:t> Choose tools that can scale with your organization</a:t>
            </a:r>
          </a:p>
          <a:p>
            <a:pPr marL="514350" indent="-514350">
              <a:buFont typeface="+mj-lt"/>
              <a:buAutoNum type="arabicPeriod"/>
            </a:pPr>
            <a:endParaRPr lang="en-US" sz="2600" dirty="0"/>
          </a:p>
          <a:p>
            <a:pPr marL="514350" indent="-514350">
              <a:buFont typeface="+mj-lt"/>
              <a:buAutoNum type="arabicPeriod"/>
            </a:pPr>
            <a:r>
              <a:rPr lang="en-US" sz="2600" b="1" dirty="0"/>
              <a:t>Pilot Before Commitment:</a:t>
            </a:r>
            <a:r>
              <a:rPr lang="en-US" sz="2600" dirty="0"/>
              <a:t> Run 30-60 day trials with actual projects</a:t>
            </a:r>
          </a:p>
          <a:p>
            <a:pPr marL="514350" indent="-514350">
              <a:buFont typeface="+mj-lt"/>
              <a:buAutoNum type="arabicPeriod"/>
            </a:pPr>
            <a:endParaRPr lang="en-US" sz="2600" dirty="0"/>
          </a:p>
          <a:p>
            <a:pPr marL="514350" indent="-514350">
              <a:buFont typeface="+mj-lt"/>
              <a:buAutoNum type="arabicPeriod"/>
            </a:pPr>
            <a:r>
              <a:rPr lang="en-US" sz="2600" b="1" dirty="0"/>
              <a:t>Factor in Total Cost:</a:t>
            </a:r>
            <a:r>
              <a:rPr lang="en-US" sz="2600" dirty="0"/>
              <a:t> Include training, implementation, and integration costs</a:t>
            </a:r>
          </a:p>
          <a:p>
            <a:pPr marL="514350" indent="-514350">
              <a:buFont typeface="+mj-lt"/>
              <a:buAutoNum type="arabicPeriod"/>
            </a:pPr>
            <a:r>
              <a:rPr lang="en-US" sz="2600" b="1" dirty="0"/>
              <a:t>Prioritize User Adoption:</a:t>
            </a:r>
            <a:r>
              <a:rPr lang="en-US" sz="2600" dirty="0"/>
              <a:t> Easier tools show 3x faster adoption rates</a:t>
            </a:r>
          </a:p>
          <a:p>
            <a:pPr marL="0" indent="0">
              <a:buNone/>
            </a:pPr>
            <a:endParaRPr lang="en-IN" sz="2600" dirty="0"/>
          </a:p>
        </p:txBody>
      </p:sp>
    </p:spTree>
    <p:extLst>
      <p:ext uri="{BB962C8B-B14F-4D97-AF65-F5344CB8AC3E}">
        <p14:creationId xmlns:p14="http://schemas.microsoft.com/office/powerpoint/2010/main" val="812003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4A8DF-A8D8-8BFC-3D22-C76082870666}"/>
              </a:ext>
            </a:extLst>
          </p:cNvPr>
          <p:cNvSpPr>
            <a:spLocks noGrp="1"/>
          </p:cNvSpPr>
          <p:nvPr>
            <p:ph type="title"/>
          </p:nvPr>
        </p:nvSpPr>
        <p:spPr>
          <a:xfrm>
            <a:off x="838200" y="365125"/>
            <a:ext cx="10515600" cy="659003"/>
          </a:xfrm>
        </p:spPr>
        <p:txBody>
          <a:bodyPr>
            <a:normAutofit fontScale="90000"/>
          </a:bodyPr>
          <a:lstStyle/>
          <a:p>
            <a:pPr algn="ctr"/>
            <a:r>
              <a:rPr lang="en-IN" b="1" dirty="0"/>
              <a:t>Implementation Best Practices</a:t>
            </a:r>
            <a:br>
              <a:rPr lang="en-IN" b="1" dirty="0"/>
            </a:br>
            <a:endParaRPr lang="en-IN" dirty="0"/>
          </a:p>
        </p:txBody>
      </p:sp>
      <p:sp>
        <p:nvSpPr>
          <p:cNvPr id="7" name="Rectangle: Rounded Corners 6">
            <a:extLst>
              <a:ext uri="{FF2B5EF4-FFF2-40B4-BE49-F238E27FC236}">
                <a16:creationId xmlns:a16="http://schemas.microsoft.com/office/drawing/2014/main" id="{22ECC8D4-2E93-9EAD-2AA5-D0F2B6DED1A8}"/>
              </a:ext>
            </a:extLst>
          </p:cNvPr>
          <p:cNvSpPr/>
          <p:nvPr/>
        </p:nvSpPr>
        <p:spPr>
          <a:xfrm>
            <a:off x="1076325" y="909828"/>
            <a:ext cx="4362450" cy="5186172"/>
          </a:xfrm>
          <a:prstGeom prst="roundRect">
            <a:avLst/>
          </a:prstGeom>
          <a:scene3d>
            <a:camera prst="orthographicFront"/>
            <a:lightRig rig="threePt" dir="t"/>
          </a:scene3d>
          <a:sp3d>
            <a:bevelT w="1143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8" name="Rectangle: Rounded Corners 7">
            <a:extLst>
              <a:ext uri="{FF2B5EF4-FFF2-40B4-BE49-F238E27FC236}">
                <a16:creationId xmlns:a16="http://schemas.microsoft.com/office/drawing/2014/main" id="{3A94DA2E-1538-BF09-99CC-56AD72C884BC}"/>
              </a:ext>
            </a:extLst>
          </p:cNvPr>
          <p:cNvSpPr/>
          <p:nvPr/>
        </p:nvSpPr>
        <p:spPr>
          <a:xfrm>
            <a:off x="6991350" y="909828"/>
            <a:ext cx="4362450" cy="5100447"/>
          </a:xfrm>
          <a:prstGeom prst="roundRect">
            <a:avLst/>
          </a:prstGeom>
          <a:scene3d>
            <a:camera prst="orthographicFront"/>
            <a:lightRig rig="threePt" dir="t"/>
          </a:scene3d>
          <a:sp3d>
            <a:bevelT w="1143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A72A4F4-F439-87B4-B794-C7D3C2941C2F}"/>
              </a:ext>
            </a:extLst>
          </p:cNvPr>
          <p:cNvSpPr txBox="1"/>
          <p:nvPr/>
        </p:nvSpPr>
        <p:spPr>
          <a:xfrm>
            <a:off x="1419225" y="1476375"/>
            <a:ext cx="3543300" cy="3416320"/>
          </a:xfrm>
          <a:prstGeom prst="rect">
            <a:avLst/>
          </a:prstGeom>
          <a:noFill/>
        </p:spPr>
        <p:txBody>
          <a:bodyPr wrap="square" rtlCol="0">
            <a:spAutoFit/>
          </a:bodyPr>
          <a:lstStyle/>
          <a:p>
            <a:r>
              <a:rPr lang="en-US" sz="2400" b="1" dirty="0"/>
              <a:t>Do’s</a:t>
            </a:r>
          </a:p>
          <a:p>
            <a:pPr marL="285750" indent="-285750">
              <a:buFont typeface="Arial" panose="020B0604020202020204" pitchFamily="34" charset="0"/>
              <a:buChar char="•"/>
            </a:pPr>
            <a:r>
              <a:rPr lang="en-US" sz="2400" dirty="0"/>
              <a:t>Start with core features</a:t>
            </a:r>
          </a:p>
          <a:p>
            <a:pPr marL="285750" indent="-285750">
              <a:buFont typeface="Arial" panose="020B0604020202020204" pitchFamily="34" charset="0"/>
              <a:buChar char="•"/>
            </a:pPr>
            <a:r>
              <a:rPr lang="en-US" sz="2400" dirty="0"/>
              <a:t>Provide comprehensive training</a:t>
            </a:r>
          </a:p>
          <a:p>
            <a:pPr marL="285750" indent="-285750">
              <a:buFont typeface="Arial" panose="020B0604020202020204" pitchFamily="34" charset="0"/>
              <a:buChar char="•"/>
            </a:pPr>
            <a:r>
              <a:rPr lang="en-US" sz="2400" dirty="0"/>
              <a:t>Designate tool champions</a:t>
            </a:r>
          </a:p>
          <a:p>
            <a:pPr marL="285750" indent="-285750">
              <a:buFont typeface="Arial" panose="020B0604020202020204" pitchFamily="34" charset="0"/>
              <a:buChar char="•"/>
            </a:pPr>
            <a:r>
              <a:rPr lang="en-US" sz="2400" dirty="0"/>
              <a:t>Integrate with existing tools</a:t>
            </a:r>
          </a:p>
          <a:p>
            <a:pPr marL="285750" indent="-285750">
              <a:buFont typeface="Arial" panose="020B0604020202020204" pitchFamily="34" charset="0"/>
              <a:buChar char="•"/>
            </a:pPr>
            <a:r>
              <a:rPr lang="en-US" sz="2400" dirty="0"/>
              <a:t>Gather regular feedback</a:t>
            </a:r>
          </a:p>
        </p:txBody>
      </p:sp>
      <p:sp>
        <p:nvSpPr>
          <p:cNvPr id="10" name="TextBox 9">
            <a:extLst>
              <a:ext uri="{FF2B5EF4-FFF2-40B4-BE49-F238E27FC236}">
                <a16:creationId xmlns:a16="http://schemas.microsoft.com/office/drawing/2014/main" id="{8AC733FC-F55E-9488-7420-F286EFA7C4AE}"/>
              </a:ext>
            </a:extLst>
          </p:cNvPr>
          <p:cNvSpPr txBox="1"/>
          <p:nvPr/>
        </p:nvSpPr>
        <p:spPr>
          <a:xfrm>
            <a:off x="7324725" y="1552575"/>
            <a:ext cx="3543300" cy="3416320"/>
          </a:xfrm>
          <a:prstGeom prst="rect">
            <a:avLst/>
          </a:prstGeom>
          <a:noFill/>
        </p:spPr>
        <p:txBody>
          <a:bodyPr wrap="square" rtlCol="0">
            <a:spAutoFit/>
          </a:bodyPr>
          <a:lstStyle/>
          <a:p>
            <a:r>
              <a:rPr lang="en-US" sz="2400" b="1" dirty="0"/>
              <a:t>Don'ts</a:t>
            </a:r>
          </a:p>
          <a:p>
            <a:pPr marL="342900" indent="-342900">
              <a:buFont typeface="Arial" panose="020B0604020202020204" pitchFamily="34" charset="0"/>
              <a:buChar char="•"/>
            </a:pPr>
            <a:r>
              <a:rPr lang="en-US" sz="2400" dirty="0"/>
              <a:t>Don't over-customize initially</a:t>
            </a:r>
          </a:p>
          <a:p>
            <a:pPr marL="342900" indent="-342900">
              <a:buFont typeface="Arial" panose="020B0604020202020204" pitchFamily="34" charset="0"/>
              <a:buChar char="•"/>
            </a:pPr>
            <a:r>
              <a:rPr lang="en-US" sz="2400" dirty="0"/>
              <a:t>Avoid forcing adoption</a:t>
            </a:r>
          </a:p>
          <a:p>
            <a:pPr marL="342900" indent="-342900">
              <a:buFont typeface="Arial" panose="020B0604020202020204" pitchFamily="34" charset="0"/>
              <a:buChar char="•"/>
            </a:pPr>
            <a:r>
              <a:rPr lang="en-US" sz="2400" dirty="0"/>
              <a:t>Don't ignore user feedback</a:t>
            </a:r>
          </a:p>
          <a:p>
            <a:pPr marL="342900" indent="-342900">
              <a:buFont typeface="Arial" panose="020B0604020202020204" pitchFamily="34" charset="0"/>
              <a:buChar char="•"/>
            </a:pPr>
            <a:r>
              <a:rPr lang="en-US" sz="2400" dirty="0"/>
              <a:t>Avoid feature overload</a:t>
            </a:r>
          </a:p>
          <a:p>
            <a:pPr marL="342900" indent="-342900">
              <a:buFont typeface="Arial" panose="020B0604020202020204" pitchFamily="34" charset="0"/>
              <a:buChar char="•"/>
            </a:pPr>
            <a:r>
              <a:rPr lang="en-US" sz="2400" dirty="0"/>
              <a:t> Don't skip planning phase</a:t>
            </a:r>
          </a:p>
        </p:txBody>
      </p:sp>
    </p:spTree>
    <p:extLst>
      <p:ext uri="{BB962C8B-B14F-4D97-AF65-F5344CB8AC3E}">
        <p14:creationId xmlns:p14="http://schemas.microsoft.com/office/powerpoint/2010/main" val="1358193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02E693-9983-036E-B32E-E8256621ADE2}"/>
              </a:ext>
            </a:extLst>
          </p:cNvPr>
          <p:cNvSpPr>
            <a:spLocks noGrp="1"/>
          </p:cNvSpPr>
          <p:nvPr>
            <p:ph type="title"/>
          </p:nvPr>
        </p:nvSpPr>
        <p:spPr>
          <a:xfrm>
            <a:off x="838200" y="393700"/>
            <a:ext cx="10515600" cy="1325563"/>
          </a:xfrm>
        </p:spPr>
        <p:txBody>
          <a:bodyPr>
            <a:normAutofit fontScale="90000"/>
          </a:bodyPr>
          <a:lstStyle/>
          <a:p>
            <a:pPr algn="ctr"/>
            <a:r>
              <a:rPr lang="en-IN" b="1" dirty="0"/>
              <a:t>Study Limitations &amp; Future Scope</a:t>
            </a:r>
            <a:br>
              <a:rPr lang="en-IN" b="1" dirty="0"/>
            </a:br>
            <a:br>
              <a:rPr lang="en-IN" dirty="0"/>
            </a:br>
            <a:endParaRPr lang="en-IN" dirty="0"/>
          </a:p>
        </p:txBody>
      </p:sp>
      <p:sp>
        <p:nvSpPr>
          <p:cNvPr id="5" name="Content Placeholder 4">
            <a:extLst>
              <a:ext uri="{FF2B5EF4-FFF2-40B4-BE49-F238E27FC236}">
                <a16:creationId xmlns:a16="http://schemas.microsoft.com/office/drawing/2014/main" id="{35A69C28-3156-BFFC-8823-4400F4240EB8}"/>
              </a:ext>
            </a:extLst>
          </p:cNvPr>
          <p:cNvSpPr>
            <a:spLocks noGrp="1"/>
          </p:cNvSpPr>
          <p:nvPr>
            <p:ph idx="1"/>
          </p:nvPr>
        </p:nvSpPr>
        <p:spPr>
          <a:xfrm>
            <a:off x="838200" y="1276350"/>
            <a:ext cx="10515600" cy="4900613"/>
          </a:xfrm>
        </p:spPr>
        <p:txBody>
          <a:bodyPr/>
          <a:lstStyle/>
          <a:p>
            <a:pPr marL="0" indent="0">
              <a:buNone/>
            </a:pPr>
            <a:r>
              <a:rPr lang="en-IN" b="1" dirty="0"/>
              <a:t>Study Limitations</a:t>
            </a:r>
          </a:p>
          <a:p>
            <a:r>
              <a:rPr lang="en-US" b="1" dirty="0"/>
              <a:t>Limited Tool Coverage:</a:t>
            </a:r>
            <a:r>
              <a:rPr lang="en-US" dirty="0"/>
              <a:t> Focused on three tools; market has 300+ options</a:t>
            </a:r>
          </a:p>
          <a:p>
            <a:r>
              <a:rPr lang="en-US" b="1" dirty="0"/>
              <a:t>Sample Size:</a:t>
            </a:r>
            <a:r>
              <a:rPr lang="en-US" dirty="0"/>
              <a:t> Survey limited to 125 respondents</a:t>
            </a:r>
          </a:p>
          <a:p>
            <a:r>
              <a:rPr lang="en-US" b="1" dirty="0"/>
              <a:t>Time Constraints:</a:t>
            </a:r>
            <a:r>
              <a:rPr lang="en-US" dirty="0"/>
              <a:t> 6-month study period may not capture long-term impacts</a:t>
            </a:r>
          </a:p>
          <a:p>
            <a:r>
              <a:rPr lang="en-US" b="1" dirty="0"/>
              <a:t>Industry Focus:</a:t>
            </a:r>
            <a:r>
              <a:rPr lang="en-US" dirty="0"/>
              <a:t> Primarily IT and software development contexts</a:t>
            </a:r>
          </a:p>
          <a:p>
            <a:r>
              <a:rPr lang="en-US" b="1"/>
              <a:t>Rapidly Changing Features:</a:t>
            </a:r>
            <a:r>
              <a:rPr lang="en-US"/>
              <a:t> Tools update frequently; findings may date quickly</a:t>
            </a:r>
          </a:p>
          <a:p>
            <a:pPr marL="0" indent="0">
              <a:buNone/>
            </a:pPr>
            <a:endParaRPr lang="en-IN" dirty="0"/>
          </a:p>
        </p:txBody>
      </p:sp>
    </p:spTree>
    <p:extLst>
      <p:ext uri="{BB962C8B-B14F-4D97-AF65-F5344CB8AC3E}">
        <p14:creationId xmlns:p14="http://schemas.microsoft.com/office/powerpoint/2010/main" val="2754149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9AF3A-6AF0-9B09-68A6-15CC8846501A}"/>
              </a:ext>
            </a:extLst>
          </p:cNvPr>
          <p:cNvSpPr>
            <a:spLocks noGrp="1"/>
          </p:cNvSpPr>
          <p:nvPr>
            <p:ph type="title"/>
          </p:nvPr>
        </p:nvSpPr>
        <p:spPr/>
        <p:txBody>
          <a:bodyPr/>
          <a:lstStyle/>
          <a:p>
            <a:pPr algn="ctr"/>
            <a:r>
              <a:rPr lang="en-IN" b="1" dirty="0"/>
              <a:t>Future Research Opportunities</a:t>
            </a:r>
            <a:br>
              <a:rPr lang="en-IN" b="1" dirty="0"/>
            </a:br>
            <a:endParaRPr lang="en-IN" dirty="0"/>
          </a:p>
        </p:txBody>
      </p:sp>
      <p:sp>
        <p:nvSpPr>
          <p:cNvPr id="3" name="Content Placeholder 2">
            <a:extLst>
              <a:ext uri="{FF2B5EF4-FFF2-40B4-BE49-F238E27FC236}">
                <a16:creationId xmlns:a16="http://schemas.microsoft.com/office/drawing/2014/main" id="{3C09903C-0FFC-25A4-51EB-A2F4DD6B3EA0}"/>
              </a:ext>
            </a:extLst>
          </p:cNvPr>
          <p:cNvSpPr>
            <a:spLocks noGrp="1"/>
          </p:cNvSpPr>
          <p:nvPr>
            <p:ph idx="1"/>
          </p:nvPr>
        </p:nvSpPr>
        <p:spPr/>
        <p:txBody>
          <a:bodyPr/>
          <a:lstStyle/>
          <a:p>
            <a:r>
              <a:rPr lang="en-US" dirty="0"/>
              <a:t>Expand study to include Asana, Monday.com, </a:t>
            </a:r>
            <a:r>
              <a:rPr lang="en-US" dirty="0" err="1"/>
              <a:t>ClickUp</a:t>
            </a:r>
            <a:r>
              <a:rPr lang="en-US" dirty="0"/>
              <a:t>, and other emerging tools</a:t>
            </a:r>
          </a:p>
          <a:p>
            <a:r>
              <a:rPr lang="en-US" dirty="0"/>
              <a:t>Longitudinal study tracking implementation success over 2-3 years</a:t>
            </a:r>
          </a:p>
          <a:p>
            <a:r>
              <a:rPr lang="en-US" dirty="0"/>
              <a:t>Industry-specific comparative analyses (healthcare, construction, finance)</a:t>
            </a:r>
          </a:p>
          <a:p>
            <a:r>
              <a:rPr lang="en-US" dirty="0"/>
              <a:t>Impact of AI and automation features on PM tool effectiveness</a:t>
            </a:r>
          </a:p>
          <a:p>
            <a:r>
              <a:rPr lang="en-US" dirty="0"/>
              <a:t>Remote vs. hybrid work context implications for tool selection</a:t>
            </a:r>
          </a:p>
          <a:p>
            <a:r>
              <a:rPr lang="en-US" dirty="0"/>
              <a:t>Integration patterns and tool ecosystem optimization</a:t>
            </a:r>
          </a:p>
          <a:p>
            <a:pPr marL="0" indent="0">
              <a:buNone/>
            </a:pPr>
            <a:endParaRPr lang="en-IN" dirty="0"/>
          </a:p>
        </p:txBody>
      </p:sp>
    </p:spTree>
    <p:extLst>
      <p:ext uri="{BB962C8B-B14F-4D97-AF65-F5344CB8AC3E}">
        <p14:creationId xmlns:p14="http://schemas.microsoft.com/office/powerpoint/2010/main" val="2001939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0C7B6-5784-59B2-4A67-4E8BA8088763}"/>
              </a:ext>
            </a:extLst>
          </p:cNvPr>
          <p:cNvSpPr>
            <a:spLocks noGrp="1"/>
          </p:cNvSpPr>
          <p:nvPr>
            <p:ph type="title"/>
          </p:nvPr>
        </p:nvSpPr>
        <p:spPr>
          <a:xfrm>
            <a:off x="838200" y="163286"/>
            <a:ext cx="10515600" cy="870857"/>
          </a:xfrm>
        </p:spPr>
        <p:txBody>
          <a:bodyPr>
            <a:normAutofit fontScale="90000"/>
          </a:bodyPr>
          <a:lstStyle/>
          <a:p>
            <a:pPr algn="ctr"/>
            <a:r>
              <a:rPr lang="en-IN" b="1" dirty="0"/>
              <a:t>Study Summary</a:t>
            </a:r>
            <a:br>
              <a:rPr lang="en-IN" b="1" dirty="0"/>
            </a:br>
            <a:endParaRPr lang="en-IN" dirty="0"/>
          </a:p>
        </p:txBody>
      </p:sp>
      <p:sp>
        <p:nvSpPr>
          <p:cNvPr id="3" name="Content Placeholder 2">
            <a:extLst>
              <a:ext uri="{FF2B5EF4-FFF2-40B4-BE49-F238E27FC236}">
                <a16:creationId xmlns:a16="http://schemas.microsoft.com/office/drawing/2014/main" id="{136B722A-BB86-3ECB-D9A2-27E384BB948C}"/>
              </a:ext>
            </a:extLst>
          </p:cNvPr>
          <p:cNvSpPr>
            <a:spLocks noGrp="1"/>
          </p:cNvSpPr>
          <p:nvPr>
            <p:ph idx="1"/>
          </p:nvPr>
        </p:nvSpPr>
        <p:spPr>
          <a:xfrm>
            <a:off x="838200" y="1164772"/>
            <a:ext cx="10515600" cy="5529942"/>
          </a:xfrm>
        </p:spPr>
        <p:txBody>
          <a:bodyPr/>
          <a:lstStyle/>
          <a:p>
            <a:pPr marL="0" indent="0">
              <a:buNone/>
            </a:pPr>
            <a:r>
              <a:rPr lang="en-US" dirty="0"/>
              <a:t>This comprehensive comparative study evaluated JIRA, Trello, and MS Project across multiple dimensions including features, usability, cost, integration capabilities, and user satisfaction. Through quantitative surveys and qualitative analysis, we established that tool selection must be context-dependent rather than following a one-size-fits-all approach.</a:t>
            </a:r>
          </a:p>
          <a:p>
            <a:pPr marL="0" indent="0">
              <a:buNone/>
            </a:pPr>
            <a:r>
              <a:rPr lang="en-IN" b="1" dirty="0"/>
              <a:t>Final Recommendation</a:t>
            </a:r>
          </a:p>
          <a:p>
            <a:pPr marL="0" indent="0">
              <a:buNone/>
            </a:pPr>
            <a:r>
              <a:rPr lang="en-US" dirty="0"/>
              <a:t>Organizations should prioritize tool-to-need alignment over feature abundance. </a:t>
            </a:r>
            <a:r>
              <a:rPr lang="en-US" b="1" dirty="0"/>
              <a:t>Start simple with Trello</a:t>
            </a:r>
            <a:r>
              <a:rPr lang="en-US" dirty="0"/>
              <a:t> for basic needs, </a:t>
            </a:r>
            <a:r>
              <a:rPr lang="en-US" b="1" dirty="0"/>
              <a:t>graduate to JIRA</a:t>
            </a:r>
            <a:r>
              <a:rPr lang="en-US" dirty="0"/>
              <a:t> for agile software development, or </a:t>
            </a:r>
            <a:r>
              <a:rPr lang="en-US" b="1" dirty="0"/>
              <a:t>deploy MS Project</a:t>
            </a:r>
            <a:r>
              <a:rPr lang="en-US" dirty="0"/>
              <a:t> for complex enterprise initiatives. The key to success lies not in the tool chosen, but in thoughtful implementation and sustained user adoption.</a:t>
            </a:r>
            <a:endParaRPr lang="en-IN" dirty="0"/>
          </a:p>
        </p:txBody>
      </p:sp>
    </p:spTree>
    <p:extLst>
      <p:ext uri="{BB962C8B-B14F-4D97-AF65-F5344CB8AC3E}">
        <p14:creationId xmlns:p14="http://schemas.microsoft.com/office/powerpoint/2010/main" val="4159955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861</TotalTime>
  <Words>1080</Words>
  <Application>Microsoft Office PowerPoint</Application>
  <PresentationFormat>Widescreen</PresentationFormat>
  <Paragraphs>250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Times New Roman</vt:lpstr>
      <vt:lpstr>Verdana</vt:lpstr>
      <vt:lpstr>Office Theme</vt:lpstr>
      <vt:lpstr>PowerPoint Presentation</vt:lpstr>
      <vt:lpstr>PRESENTATION OUTLINE</vt:lpstr>
      <vt:lpstr>INTRODUCTION</vt:lpstr>
      <vt:lpstr>EVOLUTION OF PROJECT MANAGEMENT TOOLS</vt:lpstr>
      <vt:lpstr>PowerPoint Presentation</vt:lpstr>
      <vt:lpstr>RESEARCH METHODOLOGY</vt:lpstr>
      <vt:lpstr>PowerPoint Presentation</vt:lpstr>
      <vt:lpstr>PROJECT MANAGEMENT TOOLS OVERVIEW </vt:lpstr>
      <vt:lpstr>JIRA - COMPREHENSIVE ANALYSIS</vt:lpstr>
      <vt:lpstr>Trello - COMPREHENSIVE ANALYSIS</vt:lpstr>
      <vt:lpstr>MS Project - COMPREHENSIVE ANALYSIS</vt:lpstr>
      <vt:lpstr>Feature Comparison Matrix </vt:lpstr>
      <vt:lpstr>Survey Results &amp; User Satisfaction </vt:lpstr>
      <vt:lpstr>Key Survey Insights </vt:lpstr>
      <vt:lpstr>TOOL SELECTION FRAMEWORK</vt:lpstr>
      <vt:lpstr>Recommendations </vt:lpstr>
      <vt:lpstr>Implementation Best Practices </vt:lpstr>
      <vt:lpstr>Study Limitations &amp; Future Scope  </vt:lpstr>
      <vt:lpstr>Future Research Opportunities </vt:lpstr>
      <vt:lpstr>Study 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Sachin Gala</dc:creator>
  <cp:lastModifiedBy>Sachin Gala</cp:lastModifiedBy>
  <cp:revision>10</cp:revision>
  <dcterms:created xsi:type="dcterms:W3CDTF">2025-12-07T10:39:03Z</dcterms:created>
  <dcterms:modified xsi:type="dcterms:W3CDTF">2026-03-01T07:44:37Z</dcterms:modified>
</cp:coreProperties>
</file>